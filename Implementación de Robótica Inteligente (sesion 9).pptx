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24"/>
  </p:notesMasterIdLst>
  <p:sldIdLst>
    <p:sldId id="256" r:id="rId2"/>
    <p:sldId id="357" r:id="rId3"/>
    <p:sldId id="358" r:id="rId4"/>
    <p:sldId id="364" r:id="rId5"/>
    <p:sldId id="479" r:id="rId6"/>
    <p:sldId id="480" r:id="rId7"/>
    <p:sldId id="481" r:id="rId8"/>
    <p:sldId id="482" r:id="rId9"/>
    <p:sldId id="483" r:id="rId10"/>
    <p:sldId id="488" r:id="rId11"/>
    <p:sldId id="489" r:id="rId12"/>
    <p:sldId id="490" r:id="rId13"/>
    <p:sldId id="491" r:id="rId14"/>
    <p:sldId id="492" r:id="rId15"/>
    <p:sldId id="493" r:id="rId16"/>
    <p:sldId id="494" r:id="rId17"/>
    <p:sldId id="440" r:id="rId18"/>
    <p:sldId id="453" r:id="rId19"/>
    <p:sldId id="476" r:id="rId20"/>
    <p:sldId id="474" r:id="rId21"/>
    <p:sldId id="439" r:id="rId22"/>
    <p:sldId id="280" r:id="rId23"/>
  </p:sldIdLst>
  <p:sldSz cx="9144000" cy="5143500" type="screen16x9"/>
  <p:notesSz cx="6858000" cy="9144000"/>
  <p:embeddedFontLst>
    <p:embeddedFont>
      <p:font typeface="Advent Pro Light" panose="020B0604020202020204" charset="0"/>
      <p:regular r:id="rId25"/>
      <p:bold r:id="rId26"/>
    </p:embeddedFont>
    <p:embeddedFont>
      <p:font typeface="Anton" pitchFamily="2" charset="0"/>
      <p:regular r:id="rId27"/>
    </p:embeddedFont>
    <p:embeddedFont>
      <p:font typeface="Cambria Math" panose="02040503050406030204" pitchFamily="18" charset="0"/>
      <p:regular r:id="rId28"/>
    </p:embeddedFont>
    <p:embeddedFont>
      <p:font typeface="Fira Sans Condensed Light" panose="020B0403050000020004" pitchFamily="34" charset="0"/>
      <p:regular r:id="rId29"/>
      <p:bold r:id="rId30"/>
      <p:italic r:id="rId31"/>
      <p:boldItalic r:id="rId32"/>
    </p:embeddedFont>
    <p:embeddedFont>
      <p:font typeface="Rajdhani" panose="020B060402020202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397FE-706D-4E7D-AA01-638484C1D090}">
  <a:tblStyle styleId="{95E397FE-706D-4E7D-AA01-638484C1D0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909" autoAdjust="0"/>
  </p:normalViewPr>
  <p:slideViewPr>
    <p:cSldViewPr snapToGrid="0">
      <p:cViewPr varScale="1">
        <p:scale>
          <a:sx n="82" d="100"/>
          <a:sy n="82" d="100"/>
        </p:scale>
        <p:origin x="105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7539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07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0665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1707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3701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2528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7113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7008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1212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0619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9306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4219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62099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94662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88246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08a6ee8a1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08a6ee8a1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52067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64368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65abef0139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65abef0139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76086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21256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92102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7098bb5640_0_1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7098bb5640_0_1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81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>
                <a:solidFill>
                  <a:srgbClr val="F3F3F3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85075"/>
            <a:ext cx="33849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  <a:latin typeface="Advent Pro Light"/>
                <a:ea typeface="Advent Pro Light"/>
                <a:cs typeface="Advent Pro Light"/>
                <a:sym typeface="Advent Pr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solidFill>
            <a:srgbClr val="FFFFFF">
              <a:alpha val="450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300">
                <a:solidFill>
                  <a:srgbClr val="F3F3F3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rgbClr val="F3F3F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450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1">
  <p:cSld name="Solo título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413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C343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9" r:id="rId4"/>
    <p:sldLayoutId id="2147483666" r:id="rId5"/>
    <p:sldLayoutId id="2147483667" r:id="rId6"/>
    <p:sldLayoutId id="2147483671" r:id="rId7"/>
    <p:sldLayoutId id="2147483672" r:id="rId8"/>
    <p:sldLayoutId id="2147483673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Alfredo.garcias@tec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4"/>
          <p:cNvSpPr txBox="1"/>
          <p:nvPr/>
        </p:nvSpPr>
        <p:spPr>
          <a:xfrm>
            <a:off x="745436" y="839354"/>
            <a:ext cx="8398564" cy="4299318"/>
          </a:xfrm>
          <a:prstGeom prst="rect">
            <a:avLst/>
          </a:prstGeom>
        </p:spPr>
        <p:txBody>
          <a:bodyPr vert="horz" wrap="square" lIns="0" tIns="13399" rIns="0" bIns="0" rtlCol="0">
            <a:spAutoFit/>
          </a:bodyPr>
          <a:lstStyle/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br>
              <a:rPr lang="es-MX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>
              <a:spcBef>
                <a:spcPts val="106"/>
              </a:spcBef>
            </a:pPr>
            <a:r>
              <a:rPr lang="es-ES" sz="1600" b="1" dirty="0">
                <a:solidFill>
                  <a:schemeClr val="bg1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TE3002B</a:t>
            </a:r>
            <a:br>
              <a:rPr lang="es-ES" sz="23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r>
              <a:rPr lang="es-ES" sz="27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Implementación de Robótica Inteligente</a:t>
            </a:r>
          </a:p>
          <a:p>
            <a:pPr marL="14105" marR="5642">
              <a:spcBef>
                <a:spcPts val="106"/>
              </a:spcBef>
            </a:pPr>
            <a:endParaRPr lang="es-ES" sz="2000" b="1" dirty="0">
              <a:solidFill>
                <a:schemeClr val="bg1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							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22 de Abril del 2025</a:t>
            </a: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MX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28" name="AutoShape 4" descr="Inicio | Título Electrónico Pueb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4340" name="Picture 4" descr="The Learning Gate | Tec de Monterrey"/>
          <p:cNvPicPr>
            <a:picLocks noChangeAspect="1" noChangeArrowheads="1"/>
          </p:cNvPicPr>
          <p:nvPr/>
        </p:nvPicPr>
        <p:blipFill>
          <a:blip r:embed="rId4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cxnSp>
        <p:nvCxnSpPr>
          <p:cNvPr id="11" name="Google Shape;137;p27"/>
          <p:cNvCxnSpPr/>
          <p:nvPr/>
        </p:nvCxnSpPr>
        <p:spPr>
          <a:xfrm>
            <a:off x="599181" y="3300059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   </a:t>
            </a:r>
          </a:p>
          <a:p>
            <a:pPr algn="l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Facilitador: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PhD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 Alfredo García Suárez</a:t>
            </a:r>
          </a:p>
          <a:p>
            <a:pPr algn="l"/>
            <a:br>
              <a:rPr lang="es-E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8" name="Google Shape;135;p27"/>
          <p:cNvSpPr txBox="1">
            <a:spLocks noGrp="1"/>
          </p:cNvSpPr>
          <p:nvPr>
            <p:ph type="title"/>
          </p:nvPr>
        </p:nvSpPr>
        <p:spPr>
          <a:xfrm>
            <a:off x="4681549" y="1623442"/>
            <a:ext cx="320018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Bienvenida</a:t>
            </a:r>
            <a:endParaRPr dirty="0"/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4" descr="Análisis del papel de la automatización de procesos industriales hoy y  mañana">
            <a:extLst>
              <a:ext uri="{FF2B5EF4-FFF2-40B4-BE49-F238E27FC236}">
                <a16:creationId xmlns:a16="http://schemas.microsoft.com/office/drawing/2014/main" id="{AC008B2B-6883-2457-17DE-D01F4ACEF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65" y="1264349"/>
            <a:ext cx="3931839" cy="281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>
            <a:cxnSpLocks/>
          </p:cNvCxnSpPr>
          <p:nvPr/>
        </p:nvCxnSpPr>
        <p:spPr>
          <a:xfrm>
            <a:off x="4594711" y="1828800"/>
            <a:ext cx="0" cy="18288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5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5506277" y="308115"/>
            <a:ext cx="3345621" cy="587367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4256213" y="1911729"/>
            <a:ext cx="352782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     </a:t>
            </a:r>
          </a:p>
          <a:p>
            <a:pPr algn="just"/>
            <a:r>
              <a:rPr lang="es-ES" dirty="0"/>
              <a:t>     </a:t>
            </a:r>
            <a:r>
              <a:rPr lang="es-ES" b="1" dirty="0"/>
              <a:t>“La robótica móvil puede definirse como sistemas robóticos que pueden desplazarse en distintos entornos y que cuenta con distintas capacidades que les permiten ejecutar tareas complejas, ya sea de forma autónoma o controlados por un operador humano..”   </a:t>
            </a:r>
          </a:p>
          <a:p>
            <a:pPr algn="l"/>
            <a:r>
              <a:rPr lang="es-ES" dirty="0"/>
              <a:t>       </a:t>
            </a:r>
          </a:p>
          <a:p>
            <a:pPr algn="l"/>
            <a:r>
              <a:rPr lang="es-ES" dirty="0"/>
              <a:t>                                          –</a:t>
            </a:r>
            <a:r>
              <a:rPr lang="es-ES" dirty="0" err="1"/>
              <a:t>Katsuhiko</a:t>
            </a:r>
            <a:r>
              <a:rPr lang="es-ES" dirty="0"/>
              <a:t> Ogata</a:t>
            </a:r>
          </a:p>
          <a:p>
            <a:pPr algn="l"/>
            <a:br>
              <a:rPr lang="es-ES" dirty="0"/>
            </a:br>
            <a:endParaRPr dirty="0"/>
          </a:p>
        </p:txBody>
      </p:sp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2" descr="Cinco tendencias esenciales que impulsan el crecimiento de la robótica móvil">
            <a:extLst>
              <a:ext uri="{FF2B5EF4-FFF2-40B4-BE49-F238E27FC236}">
                <a16:creationId xmlns:a16="http://schemas.microsoft.com/office/drawing/2014/main" id="{DFE48314-CCC1-71E9-5268-FDB10F877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706" y="1567133"/>
            <a:ext cx="3985292" cy="2426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Complemento de Clase Anterior</a:t>
            </a:r>
            <a:endParaRPr sz="4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3175216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 -Trayectorias en lazo abierto. Clase experimental</a:t>
            </a:r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 idx="2"/>
          </p:nvPr>
        </p:nvSpPr>
        <p:spPr>
          <a:xfrm>
            <a:off x="4849169" y="1001125"/>
            <a:ext cx="2172953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  <p:cxnSp>
        <p:nvCxnSpPr>
          <p:cNvPr id="177" name="Google Shape;177;p30"/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648536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762;p45"/>
          <p:cNvSpPr txBox="1">
            <a:spLocks/>
          </p:cNvSpPr>
          <p:nvPr/>
        </p:nvSpPr>
        <p:spPr>
          <a:xfrm>
            <a:off x="283780" y="2775439"/>
            <a:ext cx="4288220" cy="726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Una de las funciones básicas de los robots móviles es </a:t>
            </a:r>
            <a:r>
              <a:rPr lang="es-ES" sz="1800" b="1" dirty="0">
                <a:solidFill>
                  <a:schemeClr val="tx2"/>
                </a:solidFill>
              </a:rPr>
              <a:t>desplazarse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 de una determinada posición a otra en el entorno.</a:t>
            </a:r>
          </a:p>
          <a:p>
            <a:pPr marL="152400" indent="0" algn="just">
              <a:buNone/>
            </a:pP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Para realizar esta tarea, el robot móvil necesita conocer su posición en el entorno en cualquier momento para determinar si ha llegado a su destino. Este proceso se llama </a:t>
            </a:r>
            <a:r>
              <a:rPr lang="es-ES" sz="1800" b="1" dirty="0">
                <a:solidFill>
                  <a:schemeClr val="tx2"/>
                </a:solidFill>
              </a:rPr>
              <a:t>localización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.</a:t>
            </a:r>
            <a:endParaRPr lang="en-US" b="1" dirty="0"/>
          </a:p>
        </p:txBody>
      </p:sp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C1C44E94-8FBF-1BD1-40DF-1EBB8741CCEC}"/>
              </a:ext>
            </a:extLst>
          </p:cNvPr>
          <p:cNvSpPr txBox="1">
            <a:spLocks/>
          </p:cNvSpPr>
          <p:nvPr/>
        </p:nvSpPr>
        <p:spPr>
          <a:xfrm>
            <a:off x="530729" y="661197"/>
            <a:ext cx="568250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Robots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Móviles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con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ruedas</a:t>
            </a:r>
            <a:endParaRPr kumimoji="0" lang="en-U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Localización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ED2F87-B633-1AF4-D585-35FD2E028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583" y="1509851"/>
            <a:ext cx="4029637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70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762;p45"/>
          <p:cNvSpPr txBox="1">
            <a:spLocks/>
          </p:cNvSpPr>
          <p:nvPr/>
        </p:nvSpPr>
        <p:spPr>
          <a:xfrm>
            <a:off x="377567" y="2351509"/>
            <a:ext cx="4194433" cy="726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En general, en la comunidad robótica móvil, el estado de un robot se indica con </a:t>
            </a:r>
            <a:r>
              <a:rPr lang="es-ES" sz="1800" b="1" dirty="0">
                <a:solidFill>
                  <a:schemeClr val="tx2"/>
                </a:solidFill>
              </a:rPr>
              <a:t>"𝒔",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es decir, la </a:t>
            </a:r>
            <a:r>
              <a:rPr lang="es-ES" sz="1800" b="1" dirty="0">
                <a:solidFill>
                  <a:schemeClr val="tx2"/>
                </a:solidFill>
              </a:rPr>
              <a:t>pose o postura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, para este caso consta de la posición del robot y orientación con respecto a un marco de referencia (mundo, marco).</a:t>
            </a:r>
            <a:endParaRPr lang="en-US" b="1" dirty="0"/>
          </a:p>
        </p:txBody>
      </p:sp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C1C44E94-8FBF-1BD1-40DF-1EBB8741CCEC}"/>
              </a:ext>
            </a:extLst>
          </p:cNvPr>
          <p:cNvSpPr txBox="1">
            <a:spLocks/>
          </p:cNvSpPr>
          <p:nvPr/>
        </p:nvSpPr>
        <p:spPr>
          <a:xfrm>
            <a:off x="530729" y="661197"/>
            <a:ext cx="568250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Robots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Móviles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con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ruedas</a:t>
            </a:r>
            <a:endParaRPr kumimoji="0" lang="en-U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Localización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0563DA1-E818-9E3F-CB92-F48B386A7E40}"/>
                  </a:ext>
                </a:extLst>
              </p:cNvPr>
              <p:cNvSpPr txBox="1"/>
              <p:nvPr/>
            </p:nvSpPr>
            <p:spPr>
              <a:xfrm>
                <a:off x="1441938" y="4073540"/>
                <a:ext cx="1652954" cy="3756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16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GB" sz="16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MX" sz="1600" b="1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sz="16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6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s-ES" sz="1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s-ES" sz="1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</m:sub>
                        </m:sSub>
                        <m:sSub>
                          <m:sSubPr>
                            <m:ctrlPr>
                              <a:rPr lang="en-GB" sz="16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s-ES" sz="1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sSub>
                          <m:sSubPr>
                            <m:ctrlPr>
                              <a:rPr lang="en-GB" sz="16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s-ES" sz="1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GB" sz="16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</m:e>
                    </m:d>
                  </m:oMath>
                </a14:m>
                <a:endParaRPr lang="es-MX" sz="16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20563DA1-E818-9E3F-CB92-F48B386A7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938" y="4073540"/>
                <a:ext cx="1652954" cy="375616"/>
              </a:xfrm>
              <a:prstGeom prst="rect">
                <a:avLst/>
              </a:prstGeom>
              <a:blipFill>
                <a:blip r:embed="rId4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n 10">
            <a:extLst>
              <a:ext uri="{FF2B5EF4-FFF2-40B4-BE49-F238E27FC236}">
                <a16:creationId xmlns:a16="http://schemas.microsoft.com/office/drawing/2014/main" id="{908A3A17-EEB8-796B-0681-B3D56D04A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7742" y="1586978"/>
            <a:ext cx="3972479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40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762;p45"/>
          <p:cNvSpPr txBox="1">
            <a:spLocks/>
          </p:cNvSpPr>
          <p:nvPr/>
        </p:nvSpPr>
        <p:spPr>
          <a:xfrm>
            <a:off x="377567" y="2714925"/>
            <a:ext cx="4194433" cy="726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La navegación a estima </a:t>
            </a:r>
            <a:r>
              <a:rPr lang="es-ES" sz="1800" b="1" dirty="0">
                <a:solidFill>
                  <a:schemeClr val="tx2"/>
                </a:solidFill>
              </a:rPr>
              <a:t>(</a:t>
            </a:r>
            <a:r>
              <a:rPr lang="es-ES" sz="1800" b="1" dirty="0" err="1">
                <a:solidFill>
                  <a:schemeClr val="tx2"/>
                </a:solidFill>
              </a:rPr>
              <a:t>Dead</a:t>
            </a:r>
            <a:r>
              <a:rPr lang="es-ES" sz="1800" b="1" dirty="0">
                <a:solidFill>
                  <a:schemeClr val="tx2"/>
                </a:solidFill>
              </a:rPr>
              <a:t> </a:t>
            </a:r>
            <a:r>
              <a:rPr lang="es-ES" sz="1800" b="1" dirty="0" err="1">
                <a:solidFill>
                  <a:schemeClr val="tx2"/>
                </a:solidFill>
              </a:rPr>
              <a:t>reckoning</a:t>
            </a:r>
            <a:r>
              <a:rPr lang="es-ES" sz="1800" b="1" dirty="0">
                <a:solidFill>
                  <a:schemeClr val="tx2"/>
                </a:solidFill>
              </a:rPr>
              <a:t> DR)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es la técnica independiente típica que utilizaban los antiguos marineros para determinar la posición actual de su barco.</a:t>
            </a:r>
          </a:p>
          <a:p>
            <a:pPr marL="152400" indent="0" algn="just">
              <a:buNone/>
            </a:pP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DR </a:t>
            </a:r>
            <a:r>
              <a:rPr lang="es-ES" sz="1800" b="1" dirty="0">
                <a:solidFill>
                  <a:schemeClr val="tx2"/>
                </a:solidFill>
              </a:rPr>
              <a:t>integra incrementalmente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la distancia recorrida y la dirección de viaje en relación con una ubicación de inicio conocida.</a:t>
            </a:r>
            <a:endParaRPr lang="en-US" b="1" dirty="0"/>
          </a:p>
        </p:txBody>
      </p:sp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C1C44E94-8FBF-1BD1-40DF-1EBB8741CCEC}"/>
              </a:ext>
            </a:extLst>
          </p:cNvPr>
          <p:cNvSpPr txBox="1">
            <a:spLocks/>
          </p:cNvSpPr>
          <p:nvPr/>
        </p:nvSpPr>
        <p:spPr>
          <a:xfrm>
            <a:off x="530729" y="661197"/>
            <a:ext cx="568250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Robots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Móviles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con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ruedas</a:t>
            </a:r>
            <a:endParaRPr kumimoji="0" lang="en-U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Dead reckoning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4D190A-F13C-784E-7A5A-B907E655F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825" y="1705786"/>
            <a:ext cx="4267796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875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762;p45"/>
          <p:cNvSpPr txBox="1">
            <a:spLocks/>
          </p:cNvSpPr>
          <p:nvPr/>
        </p:nvSpPr>
        <p:spPr>
          <a:xfrm>
            <a:off x="318948" y="2807296"/>
            <a:ext cx="5923611" cy="726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En navegación, </a:t>
            </a:r>
            <a:r>
              <a:rPr lang="es-ES" sz="1800" b="1" dirty="0" err="1">
                <a:solidFill>
                  <a:schemeClr val="tx2"/>
                </a:solidFill>
              </a:rPr>
              <a:t>dead</a:t>
            </a:r>
            <a:r>
              <a:rPr lang="es-ES" sz="1800" b="1" dirty="0">
                <a:solidFill>
                  <a:schemeClr val="tx2"/>
                </a:solidFill>
              </a:rPr>
              <a:t> </a:t>
            </a:r>
            <a:r>
              <a:rPr lang="es-ES" sz="1800" b="1" dirty="0" err="1">
                <a:solidFill>
                  <a:schemeClr val="tx2"/>
                </a:solidFill>
              </a:rPr>
              <a:t>reckoning</a:t>
            </a:r>
            <a:r>
              <a:rPr lang="es-ES" sz="1800" b="1" dirty="0">
                <a:solidFill>
                  <a:schemeClr val="tx2"/>
                </a:solidFill>
              </a:rPr>
              <a:t>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es el proceso </a:t>
            </a:r>
            <a:r>
              <a:rPr lang="es-ES" sz="1800" b="1" dirty="0">
                <a:solidFill>
                  <a:schemeClr val="tx2"/>
                </a:solidFill>
              </a:rPr>
              <a:t>de calcular la posición actual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de un objeto en movimiento utilizando una posición previamente determinada e incorporando estimaciones de velocidad, rumbo (o dirección o curso) y tiempo transcurrido. Esta técnica utiliza la </a:t>
            </a:r>
            <a:r>
              <a:rPr lang="es-ES" sz="1800" b="1" dirty="0">
                <a:solidFill>
                  <a:schemeClr val="tx2"/>
                </a:solidFill>
              </a:rPr>
              <a:t>cinemática interna del robot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para localizarlo en el entorno. Sin embargo, dicha técnica adolece de un crecimiento ilimitado de </a:t>
            </a:r>
            <a:r>
              <a:rPr lang="es-ES" sz="1800" b="1" dirty="0">
                <a:solidFill>
                  <a:schemeClr val="tx2"/>
                </a:solidFill>
              </a:rPr>
              <a:t>la incertidumbre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sobre la postura del robot a lo largo del tiempo debido a la integración numérica y la </a:t>
            </a:r>
            <a:r>
              <a:rPr lang="es-ES" sz="1800" b="1" dirty="0">
                <a:solidFill>
                  <a:schemeClr val="tx2"/>
                </a:solidFill>
              </a:rPr>
              <a:t>acumulación de errores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.</a:t>
            </a:r>
            <a:endParaRPr lang="en-US" b="1" dirty="0"/>
          </a:p>
        </p:txBody>
      </p:sp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C1C44E94-8FBF-1BD1-40DF-1EBB8741CCEC}"/>
              </a:ext>
            </a:extLst>
          </p:cNvPr>
          <p:cNvSpPr txBox="1">
            <a:spLocks/>
          </p:cNvSpPr>
          <p:nvPr/>
        </p:nvSpPr>
        <p:spPr>
          <a:xfrm>
            <a:off x="530729" y="661197"/>
            <a:ext cx="568250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Robots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Móviles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con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ruedas</a:t>
            </a:r>
            <a:endParaRPr kumimoji="0" lang="en-U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Dead reckoning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F368811-F3BD-2F87-374E-5DF0DAA5078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66" r="5776"/>
          <a:stretch/>
        </p:blipFill>
        <p:spPr>
          <a:xfrm>
            <a:off x="6275037" y="3352800"/>
            <a:ext cx="2868963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238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762;p45"/>
          <p:cNvSpPr txBox="1">
            <a:spLocks/>
          </p:cNvSpPr>
          <p:nvPr/>
        </p:nvSpPr>
        <p:spPr>
          <a:xfrm>
            <a:off x="283779" y="2592266"/>
            <a:ext cx="4077206" cy="726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La </a:t>
            </a:r>
            <a:r>
              <a:rPr lang="es-ES" sz="1800" b="1" dirty="0" err="1">
                <a:solidFill>
                  <a:schemeClr val="tx2"/>
                </a:solidFill>
              </a:rPr>
              <a:t>odometría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 es el uso de </a:t>
            </a:r>
            <a:r>
              <a:rPr lang="es-ES" sz="1800" b="1" dirty="0">
                <a:solidFill>
                  <a:schemeClr val="tx2"/>
                </a:solidFill>
              </a:rPr>
              <a:t>datos de sensores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de movimiento (codificadores para robots con ruedas) para estimar cambios de posición a lo largo del tiempo.</a:t>
            </a:r>
          </a:p>
          <a:p>
            <a:pPr marL="152400" indent="0" algn="just">
              <a:buNone/>
            </a:pP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La </a:t>
            </a:r>
            <a:r>
              <a:rPr lang="es-ES" sz="1800" b="1" dirty="0" err="1">
                <a:solidFill>
                  <a:schemeClr val="tx2"/>
                </a:solidFill>
              </a:rPr>
              <a:t>odometría</a:t>
            </a:r>
            <a:r>
              <a:rPr lang="es-ES" sz="1800" b="1" dirty="0">
                <a:solidFill>
                  <a:schemeClr val="tx2"/>
                </a:solidFill>
              </a:rPr>
              <a:t> es un tipo de localización a estima (</a:t>
            </a:r>
            <a:r>
              <a:rPr lang="es-ES" sz="1800" b="1" dirty="0" err="1">
                <a:solidFill>
                  <a:schemeClr val="tx2"/>
                </a:solidFill>
              </a:rPr>
              <a:t>Dead</a:t>
            </a:r>
            <a:r>
              <a:rPr lang="es-ES" sz="1800" b="1" dirty="0">
                <a:solidFill>
                  <a:schemeClr val="tx2"/>
                </a:solidFill>
              </a:rPr>
              <a:t> </a:t>
            </a:r>
            <a:r>
              <a:rPr lang="es-ES" sz="1800" b="1" dirty="0" err="1">
                <a:solidFill>
                  <a:schemeClr val="tx2"/>
                </a:solidFill>
              </a:rPr>
              <a:t>reckoning</a:t>
            </a:r>
            <a:r>
              <a:rPr lang="es-ES" sz="1800" b="1" dirty="0">
                <a:solidFill>
                  <a:schemeClr val="tx2"/>
                </a:solidFill>
              </a:rPr>
              <a:t>),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basada en la estimación de la distancia recorrida.</a:t>
            </a:r>
          </a:p>
        </p:txBody>
      </p:sp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C1C44E94-8FBF-1BD1-40DF-1EBB8741CCEC}"/>
              </a:ext>
            </a:extLst>
          </p:cNvPr>
          <p:cNvSpPr txBox="1">
            <a:spLocks/>
          </p:cNvSpPr>
          <p:nvPr/>
        </p:nvSpPr>
        <p:spPr>
          <a:xfrm>
            <a:off x="530729" y="661197"/>
            <a:ext cx="568250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Robots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Móviles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con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ruedas</a:t>
            </a:r>
            <a:endParaRPr kumimoji="0" lang="en-U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Odometría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6C94111-1375-14B6-7743-6851FF88013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30"/>
          <a:stretch/>
        </p:blipFill>
        <p:spPr>
          <a:xfrm>
            <a:off x="4325302" y="2344615"/>
            <a:ext cx="4814484" cy="280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145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62;p45"/>
              <p:cNvSpPr txBox="1">
                <a:spLocks/>
              </p:cNvSpPr>
              <p:nvPr/>
            </p:nvSpPr>
            <p:spPr>
              <a:xfrm>
                <a:off x="456668" y="1920613"/>
                <a:ext cx="8312189" cy="726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:r>
                  <a:rPr lang="es-ES" sz="1800" b="1" dirty="0">
                    <a:solidFill>
                      <a:schemeClr val="tx2"/>
                    </a:solidFill>
                  </a:rPr>
                  <a:t>Objetivo: 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Para calcular la </a:t>
                </a:r>
                <a:r>
                  <a:rPr lang="es-ES" sz="1800" dirty="0">
                    <a:solidFill>
                      <a:schemeClr val="tx2"/>
                    </a:solidFill>
                  </a:rPr>
                  <a:t>pose del robot diferencial 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es necesario representar el vector de postura del robot </a:t>
                </a:r>
                <a:r>
                  <a:rPr lang="es-ES" sz="1800" dirty="0">
                    <a:solidFill>
                      <a:schemeClr val="tx2"/>
                    </a:solidFill>
                  </a:rPr>
                  <a:t>“</a:t>
                </a:r>
                <a14:m>
                  <m:oMath xmlns:m="http://schemas.openxmlformats.org/officeDocument/2006/math">
                    <m:r>
                      <a:rPr lang="es-ES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ES" sz="1800" dirty="0">
                    <a:solidFill>
                      <a:schemeClr val="tx2"/>
                    </a:solidFill>
                  </a:rPr>
                  <a:t>” 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en términos de las velocidades angulares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s-ES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s-ES" sz="1800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s-ES" sz="1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 de las ruedas del robot</a:t>
                </a:r>
                <a:endParaRPr lang="en-US" dirty="0">
                  <a:solidFill>
                    <a:schemeClr val="bg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Google Shape;1762;p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68" y="1920613"/>
                <a:ext cx="8312189" cy="726831"/>
              </a:xfrm>
              <a:prstGeom prst="rect">
                <a:avLst/>
              </a:prstGeom>
              <a:blipFill>
                <a:blip r:embed="rId4"/>
                <a:stretch>
                  <a:fillRect t="-10084" r="-587" b="-453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C1C44E94-8FBF-1BD1-40DF-1EBB8741CCEC}"/>
              </a:ext>
            </a:extLst>
          </p:cNvPr>
          <p:cNvSpPr txBox="1">
            <a:spLocks/>
          </p:cNvSpPr>
          <p:nvPr/>
        </p:nvSpPr>
        <p:spPr>
          <a:xfrm>
            <a:off x="530729" y="661197"/>
            <a:ext cx="619831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Estimación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la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posición</a:t>
            </a:r>
            <a:endParaRPr lang="en-US" sz="3000" b="1" dirty="0">
              <a:solidFill>
                <a:srgbClr val="F3F3F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Localizaci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ón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0653CB5-BEA6-1A1A-890F-A0947C5A63CD}"/>
                  </a:ext>
                </a:extLst>
              </p:cNvPr>
              <p:cNvSpPr txBox="1"/>
              <p:nvPr/>
            </p:nvSpPr>
            <p:spPr>
              <a:xfrm>
                <a:off x="3569677" y="3375913"/>
                <a:ext cx="2004646" cy="4145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GB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MX" sz="1800" b="1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MX" sz="1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s-ES" sz="1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s-ES" sz="1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</m:sub>
                        </m:sSub>
                        <m:sSub>
                          <m:sSubPr>
                            <m:ctrlPr>
                              <a:rPr lang="en-GB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s-ES" sz="1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sSub>
                          <m:sSubPr>
                            <m:ctrlPr>
                              <a:rPr lang="en-GB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s-ES" sz="1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GB" sz="1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</m:e>
                    </m:d>
                  </m:oMath>
                </a14:m>
                <a:endParaRPr lang="es-MX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0653CB5-BEA6-1A1A-890F-A0947C5A6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677" y="3375913"/>
                <a:ext cx="2004646" cy="414537"/>
              </a:xfrm>
              <a:prstGeom prst="rect">
                <a:avLst/>
              </a:prstGeom>
              <a:blipFill>
                <a:blip r:embed="rId5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0141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62;p45"/>
              <p:cNvSpPr txBox="1">
                <a:spLocks/>
              </p:cNvSpPr>
              <p:nvPr/>
            </p:nvSpPr>
            <p:spPr>
              <a:xfrm>
                <a:off x="456668" y="1760337"/>
                <a:ext cx="8312189" cy="726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:r>
                  <a:rPr lang="es-ES" sz="1800" b="1" dirty="0">
                    <a:solidFill>
                      <a:schemeClr val="tx2"/>
                    </a:solidFill>
                  </a:rPr>
                  <a:t>Paso 1: 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Partimos de la relación que existe entre la velocidad lineal </a:t>
                </a:r>
                <a14:m>
                  <m:oMath xmlns:m="http://schemas.openxmlformats.org/officeDocument/2006/math">
                    <m:r>
                      <a:rPr lang="es-ES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 y la velocidad angular </a:t>
                </a:r>
                <a14:m>
                  <m:oMath xmlns:m="http://schemas.openxmlformats.org/officeDocument/2006/math">
                    <m:r>
                      <a:rPr lang="es-ES" sz="1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9" name="Google Shape;1762;p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68" y="1760337"/>
                <a:ext cx="8312189" cy="726831"/>
              </a:xfrm>
              <a:prstGeom prst="rect">
                <a:avLst/>
              </a:prstGeom>
              <a:blipFill>
                <a:blip r:embed="rId4"/>
                <a:stretch>
                  <a:fillRect r="-587" b="-235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C1C44E94-8FBF-1BD1-40DF-1EBB8741CCEC}"/>
              </a:ext>
            </a:extLst>
          </p:cNvPr>
          <p:cNvSpPr txBox="1">
            <a:spLocks/>
          </p:cNvSpPr>
          <p:nvPr/>
        </p:nvSpPr>
        <p:spPr>
          <a:xfrm>
            <a:off x="530729" y="661197"/>
            <a:ext cx="619831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Estimación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la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posición</a:t>
            </a:r>
            <a:endParaRPr lang="en-US" sz="3000" b="1" dirty="0">
              <a:solidFill>
                <a:srgbClr val="F3F3F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Localizaci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ón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0653CB5-BEA6-1A1A-890F-A0947C5A63CD}"/>
                  </a:ext>
                </a:extLst>
              </p:cNvPr>
              <p:cNvSpPr txBox="1"/>
              <p:nvPr/>
            </p:nvSpPr>
            <p:spPr>
              <a:xfrm>
                <a:off x="3971192" y="2511971"/>
                <a:ext cx="120161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GB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MX" sz="1800" b="1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" sz="18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s-ES" sz="18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18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𝑾</m:t>
                    </m:r>
                    <m:r>
                      <a:rPr lang="es-ES" sz="18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B0653CB5-BEA6-1A1A-890F-A0947C5A6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192" y="2511971"/>
                <a:ext cx="1201615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762;p45">
                <a:extLst>
                  <a:ext uri="{FF2B5EF4-FFF2-40B4-BE49-F238E27FC236}">
                    <a16:creationId xmlns:a16="http://schemas.microsoft.com/office/drawing/2014/main" id="{10FB2548-1CC5-7702-76D4-6146F5832A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6668" y="2942682"/>
                <a:ext cx="8312189" cy="726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:r>
                  <a:rPr lang="es-ES" sz="1800" b="1" dirty="0">
                    <a:solidFill>
                      <a:schemeClr val="tx2"/>
                    </a:solidFill>
                  </a:rPr>
                  <a:t>Paso 2: 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Expresamos la velocidad lineal </a:t>
                </a:r>
                <a14:m>
                  <m:oMath xmlns:m="http://schemas.openxmlformats.org/officeDocument/2006/math">
                    <m:r>
                      <a:rPr lang="es-ES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 y la velocidad angular </a:t>
                </a:r>
                <a14:m>
                  <m:oMath xmlns:m="http://schemas.openxmlformats.org/officeDocument/2006/math">
                    <m:r>
                      <a:rPr lang="es-ES" sz="1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 en términos de las velocidades lineales de cada rueda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. </a:t>
                </a:r>
                <a:endParaRPr lang="en-US" dirty="0">
                  <a:solidFill>
                    <a:schemeClr val="bg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Google Shape;1762;p45">
                <a:extLst>
                  <a:ext uri="{FF2B5EF4-FFF2-40B4-BE49-F238E27FC236}">
                    <a16:creationId xmlns:a16="http://schemas.microsoft.com/office/drawing/2014/main" id="{10FB2548-1CC5-7702-76D4-6146F5832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68" y="2942682"/>
                <a:ext cx="8312189" cy="726831"/>
              </a:xfrm>
              <a:prstGeom prst="rect">
                <a:avLst/>
              </a:prstGeom>
              <a:blipFill>
                <a:blip r:embed="rId6"/>
                <a:stretch>
                  <a:fillRect r="-587" b="-235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326D856-3E78-7345-C056-7DDE42974F76}"/>
                  </a:ext>
                </a:extLst>
              </p:cNvPr>
              <p:cNvSpPr txBox="1"/>
              <p:nvPr/>
            </p:nvSpPr>
            <p:spPr>
              <a:xfrm>
                <a:off x="2521786" y="4025636"/>
                <a:ext cx="1310323" cy="489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GB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MX" sz="1800" b="1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1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sub>
                        </m:sSub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sSub>
                          <m:sSubPr>
                            <m:ctrlPr>
                              <a:rPr lang="en-GB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sub>
                        </m:sSub>
                      </m:num>
                      <m:den>
                        <m:r>
                          <a:rPr lang="es-ES" sz="1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s-MX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326D856-3E78-7345-C056-7DDE42974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786" y="4025636"/>
                <a:ext cx="1310323" cy="489814"/>
              </a:xfrm>
              <a:prstGeom prst="rect">
                <a:avLst/>
              </a:prstGeom>
              <a:blipFill>
                <a:blip r:embed="rId7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4535A800-1DAD-6F51-A77E-8EDA1CEE5A43}"/>
                  </a:ext>
                </a:extLst>
              </p:cNvPr>
              <p:cNvSpPr txBox="1"/>
              <p:nvPr/>
            </p:nvSpPr>
            <p:spPr>
              <a:xfrm>
                <a:off x="5311893" y="3973766"/>
                <a:ext cx="1556238" cy="5085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GB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MX" sz="1800" b="1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sz="1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sub>
                        </m:sSub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  </m:t>
                        </m:r>
                        <m:sSub>
                          <m:sSubPr>
                            <m:ctrlPr>
                              <a:rPr lang="en-GB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8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sub>
                        </m:sSub>
                      </m:num>
                      <m:den>
                        <m:r>
                          <a:rPr lang="es-ES" sz="1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den>
                    </m:f>
                  </m:oMath>
                </a14:m>
                <a:endParaRPr lang="es-MX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4535A800-1DAD-6F51-A77E-8EDA1CEE5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1893" y="3973766"/>
                <a:ext cx="1556238" cy="5085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7460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62;p45"/>
              <p:cNvSpPr txBox="1">
                <a:spLocks/>
              </p:cNvSpPr>
              <p:nvPr/>
            </p:nvSpPr>
            <p:spPr>
              <a:xfrm>
                <a:off x="456667" y="1658028"/>
                <a:ext cx="8312189" cy="726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:r>
                  <a:rPr lang="es-ES" sz="1800" b="1" dirty="0">
                    <a:solidFill>
                      <a:schemeClr val="tx2"/>
                    </a:solidFill>
                  </a:rPr>
                  <a:t>Paso 3: 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Sustituimos las velocidades lineales de las ruedas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  <m:r>
                      <a:rPr lang="es-ES" sz="18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por su equivalente representación en términos de las velocidades angulares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Google Shape;1762;p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67" y="1658028"/>
                <a:ext cx="8312189" cy="726831"/>
              </a:xfrm>
              <a:prstGeom prst="rect">
                <a:avLst/>
              </a:prstGeom>
              <a:blipFill>
                <a:blip r:embed="rId4"/>
                <a:stretch>
                  <a:fillRect r="-587" b="-235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C1C44E94-8FBF-1BD1-40DF-1EBB8741CCEC}"/>
              </a:ext>
            </a:extLst>
          </p:cNvPr>
          <p:cNvSpPr txBox="1">
            <a:spLocks/>
          </p:cNvSpPr>
          <p:nvPr/>
        </p:nvSpPr>
        <p:spPr>
          <a:xfrm>
            <a:off x="530729" y="661197"/>
            <a:ext cx="619831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Estimación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la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posición</a:t>
            </a:r>
            <a:endParaRPr lang="en-US" sz="3000" b="1" dirty="0">
              <a:solidFill>
                <a:srgbClr val="F3F3F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Localizaci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ón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1762;p45">
                <a:extLst>
                  <a:ext uri="{FF2B5EF4-FFF2-40B4-BE49-F238E27FC236}">
                    <a16:creationId xmlns:a16="http://schemas.microsoft.com/office/drawing/2014/main" id="{10FB2548-1CC5-7702-76D4-6146F5832A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6667" y="2996250"/>
                <a:ext cx="8312189" cy="726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:r>
                  <a:rPr lang="es-ES" sz="1800" b="1" dirty="0">
                    <a:solidFill>
                      <a:schemeClr val="tx2"/>
                    </a:solidFill>
                  </a:rPr>
                  <a:t>Paso 4: 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Sustituimos la cinemática diferencial en términos de las velocidades angulares de las ruedas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</m:oMath>
                </a14:m>
                <a:endParaRPr lang="en-US" sz="1800" dirty="0">
                  <a:solidFill>
                    <a:schemeClr val="bg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Google Shape;1762;p45">
                <a:extLst>
                  <a:ext uri="{FF2B5EF4-FFF2-40B4-BE49-F238E27FC236}">
                    <a16:creationId xmlns:a16="http://schemas.microsoft.com/office/drawing/2014/main" id="{10FB2548-1CC5-7702-76D4-6146F5832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67" y="2996250"/>
                <a:ext cx="8312189" cy="726831"/>
              </a:xfrm>
              <a:prstGeom prst="rect">
                <a:avLst/>
              </a:prstGeom>
              <a:blipFill>
                <a:blip r:embed="rId5"/>
                <a:stretch>
                  <a:fillRect r="-587" b="-235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F4FE925-92EF-BC26-9579-8A4919BE2692}"/>
                  </a:ext>
                </a:extLst>
              </p:cNvPr>
              <p:cNvSpPr txBox="1"/>
              <p:nvPr/>
            </p:nvSpPr>
            <p:spPr>
              <a:xfrm>
                <a:off x="5136905" y="2528464"/>
                <a:ext cx="1792293" cy="462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GB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MX" sz="1800" b="1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" sz="18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f>
                      <m:fPr>
                        <m:ctrlPr>
                          <a:rPr lang="es-ES" sz="1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sub>
                        </m:sSub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sub>
                        </m:sSub>
                      </m:num>
                      <m:den>
                        <m:r>
                          <a:rPr lang="es-ES" sz="1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den>
                    </m:f>
                  </m:oMath>
                </a14:m>
                <a:endParaRPr lang="es-MX" sz="1800" b="1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F4FE925-92EF-BC26-9579-8A4919BE2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905" y="2528464"/>
                <a:ext cx="1792293" cy="462755"/>
              </a:xfrm>
              <a:prstGeom prst="rect">
                <a:avLst/>
              </a:prstGeom>
              <a:blipFill>
                <a:blip r:embed="rId6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06670B7-F7B6-0D43-6EF3-DAFB072DE2F1}"/>
                  </a:ext>
                </a:extLst>
              </p:cNvPr>
              <p:cNvSpPr txBox="1"/>
              <p:nvPr/>
            </p:nvSpPr>
            <p:spPr>
              <a:xfrm>
                <a:off x="2280800" y="2545364"/>
                <a:ext cx="1792293" cy="491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GB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MX" sz="1800" b="1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" sz="18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f>
                      <m:fPr>
                        <m:ctrlPr>
                          <a:rPr lang="es-ES" sz="1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sub>
                        </m:sSub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  <m: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sub>
                        </m:sSub>
                      </m:num>
                      <m:den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s-MX" sz="1800" b="1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06670B7-F7B6-0D43-6EF3-DAFB072DE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800" y="2545364"/>
                <a:ext cx="1792293" cy="4910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lecha: a la derecha con bandas 15">
            <a:extLst>
              <a:ext uri="{FF2B5EF4-FFF2-40B4-BE49-F238E27FC236}">
                <a16:creationId xmlns:a16="http://schemas.microsoft.com/office/drawing/2014/main" id="{CD14E596-F85B-AACE-C26E-72A62E3E0F7E}"/>
              </a:ext>
            </a:extLst>
          </p:cNvPr>
          <p:cNvSpPr/>
          <p:nvPr/>
        </p:nvSpPr>
        <p:spPr>
          <a:xfrm>
            <a:off x="4046295" y="4096674"/>
            <a:ext cx="832338" cy="390949"/>
          </a:xfrm>
          <a:prstGeom prst="striped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4E32F19-2DDC-85E2-586C-B3FAE7119FBA}"/>
                  </a:ext>
                </a:extLst>
              </p:cNvPr>
              <p:cNvSpPr txBox="1"/>
              <p:nvPr/>
            </p:nvSpPr>
            <p:spPr>
              <a:xfrm>
                <a:off x="5097706" y="3532735"/>
                <a:ext cx="3262678" cy="13081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1800" b="1" i="1" u="none" strike="noStrike" baseline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l-GR" sz="18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r>
                  <a:rPr lang="es-ES" sz="1800" b="1" i="1" u="none" strike="noStrike" baseline="0" dirty="0">
                    <a:solidFill>
                      <a:schemeClr val="tx2"/>
                    </a:solidFill>
                    <a:latin typeface="CambriaMath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1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s-ES" sz="1800" b="1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f>
                                <m:fPr>
                                  <m:ctrlPr>
                                    <a:rPr lang="es-ES" sz="1800" b="1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18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sub>
                                  </m:sSub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+  </m:t>
                                  </m:r>
                                  <m:sSub>
                                    <m:sSubPr>
                                      <m:ctrlPr>
                                        <a:rPr lang="en-GB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18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𝑳</m:t>
                                      </m:r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s-ES" sz="1800" b="1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∗</m:t>
                              </m:r>
                              <m:r>
                                <m:rPr>
                                  <m:nor/>
                                </m:rPr>
                                <a:rPr lang="es-ES" sz="1800" b="1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s-ES" sz="1800" b="1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(</m:t>
                              </m:r>
                              <m:r>
                                <a:rPr lang="el-GR" sz="1800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m:rPr>
                                  <m:nor/>
                                </m:rPr>
                                <a:rPr lang="es-ES" sz="1800" b="1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) </m:t>
                              </m:r>
                            </m:e>
                          </m:mr>
                          <m:mr>
                            <m:e>
                              <m:r>
                                <a:rPr lang="es-ES" sz="1800" b="1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f>
                                <m:fPr>
                                  <m:ctrlPr>
                                    <a:rPr lang="es-ES" sz="1800" b="1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18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sub>
                                  </m:sSub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+  </m:t>
                                  </m:r>
                                  <m:sSub>
                                    <m:sSubPr>
                                      <m:ctrlPr>
                                        <a:rPr lang="en-GB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18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𝑳</m:t>
                                      </m:r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s-ES" sz="1800" b="1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∗</m:t>
                              </m:r>
                              <m:r>
                                <m:rPr>
                                  <m:nor/>
                                </m:rPr>
                                <a:rPr lang="es-ES" sz="1800" b="1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sen</m:t>
                              </m:r>
                              <m:r>
                                <m:rPr>
                                  <m:nor/>
                                </m:rPr>
                                <a:rPr lang="es-ES" sz="1800" b="1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(</m:t>
                              </m:r>
                              <m:r>
                                <a:rPr lang="el-GR" sz="1800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m:rPr>
                                  <m:nor/>
                                </m:rPr>
                                <a:rPr lang="es-ES" sz="1800" b="1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s-ES" sz="1800" b="1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f>
                                <m:fPr>
                                  <m:ctrlPr>
                                    <a:rPr lang="es-ES" sz="1800" b="1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18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sub>
                                  </m:sSub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  </m:t>
                                  </m:r>
                                  <m:sSub>
                                    <m:sSubPr>
                                      <m:ctrlPr>
                                        <a:rPr lang="en-GB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18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𝑳</m:t>
                                      </m:r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s-ES" sz="1800" b="1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𝒍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s-ES" sz="1800" b="1" i="1" u="none" strike="noStrike" dirty="0">
                    <a:solidFill>
                      <a:schemeClr val="tx2"/>
                    </a:solidFill>
                    <a:latin typeface="CambriaMath"/>
                  </a:rPr>
                  <a:t> </a:t>
                </a:r>
                <a:endParaRPr lang="es-ES" sz="1800" b="1" i="1" u="none" strike="noStrike" baseline="0" dirty="0">
                  <a:solidFill>
                    <a:schemeClr val="tx2"/>
                  </a:solidFill>
                  <a:latin typeface="CambriaMath"/>
                </a:endParaRP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4E32F19-2DDC-85E2-586C-B3FAE7119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706" y="3532735"/>
                <a:ext cx="3262678" cy="13081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69A0D97-EFE5-D411-A12D-6FADBB014C17}"/>
                  </a:ext>
                </a:extLst>
              </p:cNvPr>
              <p:cNvSpPr txBox="1"/>
              <p:nvPr/>
            </p:nvSpPr>
            <p:spPr>
              <a:xfrm>
                <a:off x="1772820" y="3836216"/>
                <a:ext cx="2008733" cy="882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1800" i="1" u="none" strike="noStrike" baseline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GB" sz="18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1800" b="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GB" sz="18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1800" b="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GB" sz="180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l-GR" sz="1800" b="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r>
                  <a:rPr lang="es-ES" sz="1800" i="1" u="none" strike="noStrike" baseline="0" dirty="0">
                    <a:solidFill>
                      <a:schemeClr val="tx2"/>
                    </a:solidFill>
                    <a:latin typeface="CambriaMath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sz="1800" b="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∗</m:t>
                              </m:r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cos</m:t>
                              </m:r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(</m:t>
                              </m:r>
                              <m:r>
                                <a:rPr lang="el-GR" sz="1800" b="0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) 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ES" sz="1800" b="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∗</m:t>
                              </m:r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sen</m:t>
                              </m:r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(</m:t>
                              </m:r>
                              <m:r>
                                <a:rPr lang="el-GR" sz="1800" b="0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m:rPr>
                                  <m:nor/>
                                </m:rPr>
                                <a:rPr lang="es-ES" sz="1800" i="1" dirty="0">
                                  <a:solidFill>
                                    <a:schemeClr val="tx2"/>
                                  </a:solidFill>
                                  <a:latin typeface="CambriaMath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l-GR" sz="1800" b="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ES" sz="1800" i="1" u="none" strike="noStrike" dirty="0">
                    <a:solidFill>
                      <a:schemeClr val="tx2"/>
                    </a:solidFill>
                    <a:latin typeface="CambriaMath"/>
                  </a:rPr>
                  <a:t> </a:t>
                </a:r>
                <a:endParaRPr lang="es-MX" sz="18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69A0D97-EFE5-D411-A12D-6FADBB014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820" y="3836216"/>
                <a:ext cx="2008733" cy="88287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4813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62;p45"/>
              <p:cNvSpPr txBox="1">
                <a:spLocks/>
              </p:cNvSpPr>
              <p:nvPr/>
            </p:nvSpPr>
            <p:spPr>
              <a:xfrm>
                <a:off x="456667" y="1647055"/>
                <a:ext cx="8312189" cy="726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:r>
                  <a:rPr lang="es-ES" sz="1800" b="1" dirty="0">
                    <a:solidFill>
                      <a:schemeClr val="tx2"/>
                    </a:solidFill>
                  </a:rPr>
                  <a:t>Paso 5: 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Definimos el cambio de distancia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s-ES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s-ES" sz="18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en un tiempo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s-ES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s-ES" sz="18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de igual forma definimos un cambio de orientación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1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 en un tiempo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s-ES" sz="18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:</a:t>
                </a:r>
              </a:p>
            </p:txBody>
          </p:sp>
        </mc:Choice>
        <mc:Fallback xmlns="">
          <p:sp>
            <p:nvSpPr>
              <p:cNvPr id="9" name="Google Shape;1762;p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67" y="1647055"/>
                <a:ext cx="8312189" cy="726831"/>
              </a:xfrm>
              <a:prstGeom prst="rect">
                <a:avLst/>
              </a:prstGeom>
              <a:blipFill>
                <a:blip r:embed="rId4"/>
                <a:stretch>
                  <a:fillRect r="-587" b="-243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C1C44E94-8FBF-1BD1-40DF-1EBB8741CCEC}"/>
              </a:ext>
            </a:extLst>
          </p:cNvPr>
          <p:cNvSpPr txBox="1">
            <a:spLocks/>
          </p:cNvSpPr>
          <p:nvPr/>
        </p:nvSpPr>
        <p:spPr>
          <a:xfrm>
            <a:off x="530729" y="661197"/>
            <a:ext cx="619831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Estimación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la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posición</a:t>
            </a:r>
            <a:endParaRPr lang="en-US" sz="3000" b="1" dirty="0">
              <a:solidFill>
                <a:srgbClr val="F3F3F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Localizaci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ón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4" name="Google Shape;1762;p45">
            <a:extLst>
              <a:ext uri="{FF2B5EF4-FFF2-40B4-BE49-F238E27FC236}">
                <a16:creationId xmlns:a16="http://schemas.microsoft.com/office/drawing/2014/main" id="{10FB2548-1CC5-7702-76D4-6146F5832A96}"/>
              </a:ext>
            </a:extLst>
          </p:cNvPr>
          <p:cNvSpPr txBox="1">
            <a:spLocks/>
          </p:cNvSpPr>
          <p:nvPr/>
        </p:nvSpPr>
        <p:spPr>
          <a:xfrm>
            <a:off x="456667" y="2978752"/>
            <a:ext cx="8312189" cy="52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800" b="1" dirty="0">
                <a:solidFill>
                  <a:schemeClr val="tx2"/>
                </a:solidFill>
              </a:rPr>
              <a:t>Paso 6: </a:t>
            </a:r>
            <a:r>
              <a:rPr lang="es-ES" sz="18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Obtenemos la posición del robot:</a:t>
            </a:r>
            <a:endParaRPr lang="en-US" sz="180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F4FE925-92EF-BC26-9579-8A4919BE2692}"/>
                  </a:ext>
                </a:extLst>
              </p:cNvPr>
              <p:cNvSpPr txBox="1"/>
              <p:nvPr/>
            </p:nvSpPr>
            <p:spPr>
              <a:xfrm>
                <a:off x="4936752" y="2541039"/>
                <a:ext cx="17922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8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l-GR" sz="18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18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ES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s-ES" sz="1800" i="1" dirty="0">
                          <a:solidFill>
                            <a:schemeClr val="tx2"/>
                          </a:solidFill>
                          <a:latin typeface="CambriaMath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l-GR" sz="18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ES" sz="18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</m:oMath>
                  </m:oMathPara>
                </a14:m>
                <a:endParaRPr lang="es-MX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F4FE925-92EF-BC26-9579-8A4919BE2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752" y="2541039"/>
                <a:ext cx="179229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06670B7-F7B6-0D43-6EF3-DAFB072DE2F1}"/>
                  </a:ext>
                </a:extLst>
              </p:cNvPr>
              <p:cNvSpPr txBox="1"/>
              <p:nvPr/>
            </p:nvSpPr>
            <p:spPr>
              <a:xfrm>
                <a:off x="2280800" y="2545364"/>
                <a:ext cx="19160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s-ES" sz="18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GB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MX" sz="1800" b="1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sz="1800" i="1" dirty="0">
                        <a:solidFill>
                          <a:schemeClr val="tx2"/>
                        </a:solidFill>
                        <a:latin typeface="CambriaMath"/>
                      </a:rPr>
                      <m:t>V</m:t>
                    </m:r>
                    <m:r>
                      <m:rPr>
                        <m:nor/>
                      </m:rPr>
                      <a:rPr lang="es-ES" sz="1800" b="0" i="1" dirty="0" smtClean="0">
                        <a:solidFill>
                          <a:schemeClr val="tx2"/>
                        </a:solidFill>
                        <a:latin typeface="CambriaMath"/>
                      </a:rPr>
                      <m:t>∗</m:t>
                    </m:r>
                    <m:r>
                      <m:rPr>
                        <m:sty m:val="p"/>
                      </m:rPr>
                      <a:rPr lang="el-GR" sz="18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s-ES" sz="18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endParaRPr lang="es-MX" sz="1800" b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06670B7-F7B6-0D43-6EF3-DAFB072DE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800" y="2545364"/>
                <a:ext cx="191606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6E0440F-C5E7-0B21-9E8F-9FED4DB4D163}"/>
                  </a:ext>
                </a:extLst>
              </p:cNvPr>
              <p:cNvSpPr txBox="1"/>
              <p:nvPr/>
            </p:nvSpPr>
            <p:spPr>
              <a:xfrm>
                <a:off x="2797290" y="3613815"/>
                <a:ext cx="4278923" cy="9848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1800" i="1" u="none" strike="noStrike" baseline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l-GR" sz="18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s-ES" sz="1800" i="1" u="none" strike="noStrike" baseline="0" dirty="0">
                    <a:solidFill>
                      <a:schemeClr val="tx2"/>
                    </a:solidFill>
                    <a:latin typeface="CambriaMath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l-GR" sz="18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s-ES" sz="1800" i="1" u="none" strike="noStrike" dirty="0">
                    <a:solidFill>
                      <a:schemeClr val="tx2"/>
                    </a:solidFill>
                    <a:latin typeface="CambriaMath"/>
                  </a:rPr>
                  <a:t> +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𝒄𝒐𝒔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(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l-GR" sz="18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s-ES" sz="18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𝒔𝒆𝒏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(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l-GR" sz="18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s-ES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l-GR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l-GR" sz="1800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ES" sz="1800" i="1" dirty="0">
                    <a:solidFill>
                      <a:schemeClr val="tx2"/>
                    </a:solidFill>
                    <a:latin typeface="CambriaMath"/>
                  </a:rPr>
                  <a:t> </a:t>
                </a:r>
                <a:endParaRPr lang="es-ES" sz="1800" i="1" u="none" strike="noStrike" baseline="0" dirty="0">
                  <a:solidFill>
                    <a:schemeClr val="tx2"/>
                  </a:solidFill>
                  <a:latin typeface="CambriaMath"/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6E0440F-C5E7-0B21-9E8F-9FED4DB4D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290" y="3613815"/>
                <a:ext cx="4278923" cy="9848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557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62;p45"/>
              <p:cNvSpPr txBox="1">
                <a:spLocks/>
              </p:cNvSpPr>
              <p:nvPr/>
            </p:nvSpPr>
            <p:spPr>
              <a:xfrm>
                <a:off x="456667" y="1647055"/>
                <a:ext cx="8312189" cy="726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:r>
                  <a:rPr lang="es-ES" sz="1800" b="1" dirty="0">
                    <a:solidFill>
                      <a:schemeClr val="tx2"/>
                    </a:solidFill>
                  </a:rPr>
                  <a:t>Paso 7: 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Finalmente representamos la posición del robot diferencial en términos de las velocidades angulares de las ruedas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 </a:t>
                </a:r>
                <a:endParaRPr lang="en-US" dirty="0">
                  <a:solidFill>
                    <a:schemeClr val="bg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Google Shape;1762;p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67" y="1647055"/>
                <a:ext cx="8312189" cy="726831"/>
              </a:xfrm>
              <a:prstGeom prst="rect">
                <a:avLst/>
              </a:prstGeom>
              <a:blipFill>
                <a:blip r:embed="rId4"/>
                <a:stretch>
                  <a:fillRect r="-587" b="-243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C1C44E94-8FBF-1BD1-40DF-1EBB8741CCEC}"/>
              </a:ext>
            </a:extLst>
          </p:cNvPr>
          <p:cNvSpPr txBox="1">
            <a:spLocks/>
          </p:cNvSpPr>
          <p:nvPr/>
        </p:nvSpPr>
        <p:spPr>
          <a:xfrm>
            <a:off x="530729" y="661197"/>
            <a:ext cx="619831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Estimación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la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posición</a:t>
            </a:r>
            <a:endParaRPr lang="en-US" sz="3000" b="1" dirty="0">
              <a:solidFill>
                <a:srgbClr val="F3F3F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Localizaci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ón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6E0440F-C5E7-0B21-9E8F-9FED4DB4D163}"/>
                  </a:ext>
                </a:extLst>
              </p:cNvPr>
              <p:cNvSpPr txBox="1"/>
              <p:nvPr/>
            </p:nvSpPr>
            <p:spPr>
              <a:xfrm>
                <a:off x="2029034" y="2787044"/>
                <a:ext cx="5167453" cy="1365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1800" i="1" u="none" strike="noStrike" baseline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l-GR" sz="18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s-ES" sz="1800" i="1" u="none" strike="noStrike" baseline="0" dirty="0">
                    <a:solidFill>
                      <a:schemeClr val="tx2"/>
                    </a:solidFill>
                    <a:latin typeface="CambriaMath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l-GR" sz="18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s-ES" sz="1800" i="1" u="none" strike="noStrike" dirty="0">
                    <a:solidFill>
                      <a:schemeClr val="tx2"/>
                    </a:solidFill>
                    <a:latin typeface="CambriaMath"/>
                  </a:rPr>
                  <a:t> +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f>
                                    <m:fPr>
                                      <m:ctrlPr>
                                        <a:rPr lang="es-ES" sz="1800" b="1" i="1" dirty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GB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𝑾</m:t>
                                          </m:r>
                                        </m:e>
                                        <m:sub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 </m:t>
                                          </m:r>
                                        </m:sub>
                                      </m:sSub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  </m:t>
                                      </m:r>
                                      <m:sSub>
                                        <m:sSubPr>
                                          <m:ctrlPr>
                                            <a:rPr lang="en-GB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𝑾</m:t>
                                          </m:r>
                                        </m:e>
                                        <m:sub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𝑳</m:t>
                                          </m:r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 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𝒄𝒐𝒔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(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l-GR" sz="18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s-ES" sz="18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f>
                                    <m:fPr>
                                      <m:ctrlPr>
                                        <a:rPr lang="es-ES" sz="1800" b="1" i="1" dirty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GB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𝑾</m:t>
                                          </m:r>
                                        </m:e>
                                        <m:sub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 </m:t>
                                          </m:r>
                                        </m:sub>
                                      </m:sSub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  </m:t>
                                      </m:r>
                                      <m:sSub>
                                        <m:sSubPr>
                                          <m:ctrlPr>
                                            <a:rPr lang="en-GB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𝑾</m:t>
                                          </m:r>
                                        </m:e>
                                        <m:sub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𝑳</m:t>
                                          </m:r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 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𝒔𝒆𝒏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(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l-GR" sz="18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s-ES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s-ES" sz="1800" b="1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f>
                                <m:fPr>
                                  <m:ctrlPr>
                                    <a:rPr lang="es-ES" sz="1800" b="1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  <m:sub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sub>
                                  </m:sSub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  </m:t>
                                  </m:r>
                                  <m:sSub>
                                    <m:sSubPr>
                                      <m:ctrlPr>
                                        <a:rPr lang="en-GB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  <m:sub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𝑳</m:t>
                                      </m:r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s-ES" sz="1800" b="1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𝒍</m:t>
                                  </m:r>
                                </m:den>
                              </m:f>
                              <m:r>
                                <a:rPr lang="es-ES" sz="18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m:rPr>
                                  <m:sty m:val="p"/>
                                </m:rPr>
                                <a:rPr lang="el-GR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s-ES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s-ES" sz="1800" i="1" u="none" strike="noStrike" baseline="0" dirty="0">
                  <a:solidFill>
                    <a:schemeClr val="tx2"/>
                  </a:solidFill>
                  <a:latin typeface="CambriaMath"/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6E0440F-C5E7-0B21-9E8F-9FED4DB4D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034" y="2787044"/>
                <a:ext cx="5167453" cy="13656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2472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62;p45"/>
              <p:cNvSpPr txBox="1">
                <a:spLocks/>
              </p:cNvSpPr>
              <p:nvPr/>
            </p:nvSpPr>
            <p:spPr>
              <a:xfrm>
                <a:off x="456667" y="1647055"/>
                <a:ext cx="8312189" cy="726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:r>
                  <a:rPr lang="es-ES" sz="1800" b="1" dirty="0">
                    <a:solidFill>
                      <a:schemeClr val="tx2"/>
                    </a:solidFill>
                  </a:rPr>
                  <a:t>Paso 8: 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Si la </a:t>
                </a:r>
                <a:r>
                  <a:rPr lang="es-ES" sz="1800" dirty="0" err="1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odometría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 se genera a partir de </a:t>
                </a:r>
                <a:r>
                  <a:rPr lang="es-ES" sz="1800" dirty="0" err="1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encoders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 se obtienen los </a:t>
                </a:r>
                <a:r>
                  <a:rPr lang="es-ES" sz="1800" dirty="0" err="1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desplazmientos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 de cada una de las ruedas</a:t>
                </a:r>
                <a14:m>
                  <m:oMath xmlns:m="http://schemas.openxmlformats.org/officeDocument/2006/math">
                    <m:r>
                      <a:rPr lang="es-ES" sz="18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18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GB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 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GB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Google Shape;1762;p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67" y="1647055"/>
                <a:ext cx="8312189" cy="726831"/>
              </a:xfrm>
              <a:prstGeom prst="rect">
                <a:avLst/>
              </a:prstGeom>
              <a:blipFill>
                <a:blip r:embed="rId4"/>
                <a:stretch>
                  <a:fillRect r="-587" b="-243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C1C44E94-8FBF-1BD1-40DF-1EBB8741CCEC}"/>
              </a:ext>
            </a:extLst>
          </p:cNvPr>
          <p:cNvSpPr txBox="1">
            <a:spLocks/>
          </p:cNvSpPr>
          <p:nvPr/>
        </p:nvSpPr>
        <p:spPr>
          <a:xfrm>
            <a:off x="530729" y="661197"/>
            <a:ext cx="619831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Estimación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la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posición</a:t>
            </a:r>
            <a:endParaRPr lang="en-US" sz="3000" b="1" dirty="0">
              <a:solidFill>
                <a:srgbClr val="F3F3F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Localizaci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ón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6E0440F-C5E7-0B21-9E8F-9FED4DB4D163}"/>
                  </a:ext>
                </a:extLst>
              </p:cNvPr>
              <p:cNvSpPr txBox="1"/>
              <p:nvPr/>
            </p:nvSpPr>
            <p:spPr>
              <a:xfrm>
                <a:off x="2389058" y="2794832"/>
                <a:ext cx="3644935" cy="5690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GB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s-ES" sz="1800" i="1" u="none" strike="noStrike" baseline="0" dirty="0">
                    <a:solidFill>
                      <a:schemeClr val="tx2"/>
                    </a:solidFill>
                    <a:latin typeface="CambriaMath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ES" sz="1800" b="1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ES" sz="1800" b="1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sz="1800" b="1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𝑷𝒖𝒍𝒔𝒐𝒔</m:t>
                                </m:r>
                                <m:r>
                                  <a:rPr lang="es-ES" sz="1800" b="1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sz="1800" b="1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𝒄𝒐𝒏𝒕𝒂𝒅𝒐𝒔</m:t>
                                </m:r>
                              </m:num>
                              <m:den>
                                <m:r>
                                  <a:rPr lang="es-ES" sz="1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𝑷𝒖𝒍𝒔𝒐𝒔</m:t>
                                </m:r>
                                <m:r>
                                  <a:rPr lang="es-ES" sz="1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sz="1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𝒑𝒐𝒓</m:t>
                                </m:r>
                                <m:r>
                                  <a:rPr lang="es-ES" sz="1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sz="1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𝒓𝒆𝒗𝒐𝒍𝒖𝒄𝒊</m:t>
                                </m:r>
                                <m:r>
                                  <a:rPr lang="es-ES" sz="1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ó</m:t>
                                </m:r>
                                <m:r>
                                  <a:rPr lang="es-ES" sz="1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s-ES" sz="1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s-ES" sz="18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l-GR" sz="18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s-E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s-E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s-ES" sz="1800" i="1" u="none" strike="noStrike" baseline="0" dirty="0">
                  <a:solidFill>
                    <a:schemeClr val="tx2"/>
                  </a:solidFill>
                  <a:latin typeface="CambriaMath"/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76E0440F-C5E7-0B21-9E8F-9FED4DB4D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058" y="2794832"/>
                <a:ext cx="3644935" cy="569002"/>
              </a:xfrm>
              <a:prstGeom prst="rect">
                <a:avLst/>
              </a:prstGeom>
              <a:blipFill>
                <a:blip r:embed="rId5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6677CCB-E586-7E25-3447-45C181280B60}"/>
                  </a:ext>
                </a:extLst>
              </p:cNvPr>
              <p:cNvSpPr txBox="1"/>
              <p:nvPr/>
            </p:nvSpPr>
            <p:spPr>
              <a:xfrm>
                <a:off x="2389058" y="3648335"/>
                <a:ext cx="3644935" cy="5690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GB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sub>
                    </m:sSub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s-ES" sz="1800" i="1" u="none" strike="noStrike" baseline="0" dirty="0">
                    <a:solidFill>
                      <a:schemeClr val="tx2"/>
                    </a:solidFill>
                    <a:latin typeface="CambriaMath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ES" sz="1800" b="1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s-ES" sz="1800" b="1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sz="1800" b="1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𝑷𝒖𝒍𝒔𝒐𝒔</m:t>
                                </m:r>
                                <m:r>
                                  <a:rPr lang="es-ES" sz="1800" b="1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sz="1800" b="1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𝒄𝒐𝒏𝒕𝒂𝒅𝒐𝒔</m:t>
                                </m:r>
                              </m:num>
                              <m:den>
                                <m:r>
                                  <a:rPr lang="es-ES" sz="1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𝑷𝒖𝒍𝒔𝒐𝒔</m:t>
                                </m:r>
                                <m:r>
                                  <a:rPr lang="es-ES" sz="1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sz="1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𝒑𝒐𝒓</m:t>
                                </m:r>
                                <m:r>
                                  <a:rPr lang="es-ES" sz="1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s-ES" sz="1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𝒓𝒆𝒗𝒐𝒍𝒖𝒄𝒊</m:t>
                                </m:r>
                                <m:r>
                                  <a:rPr lang="es-ES" sz="1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ó</m:t>
                                </m:r>
                                <m:r>
                                  <a:rPr lang="es-ES" sz="1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s-ES" sz="1800" b="1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sub>
                    </m:sSub>
                    <m:r>
                      <a:rPr lang="es-ES" sz="18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l-GR" sz="18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s-E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s-ES" sz="18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s-ES" sz="1800" i="1" u="none" strike="noStrike" baseline="0" dirty="0">
                  <a:solidFill>
                    <a:schemeClr val="tx2"/>
                  </a:solidFill>
                  <a:latin typeface="CambriaMath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6677CCB-E586-7E25-3447-45C181280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058" y="3648335"/>
                <a:ext cx="3644935" cy="569002"/>
              </a:xfrm>
              <a:prstGeom prst="rect">
                <a:avLst/>
              </a:prstGeom>
              <a:blipFill>
                <a:blip r:embed="rId6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0140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>
            <a:cxnSpLocks/>
          </p:cNvCxnSpPr>
          <p:nvPr/>
        </p:nvCxnSpPr>
        <p:spPr>
          <a:xfrm>
            <a:off x="456668" y="803001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1762;p45"/>
              <p:cNvSpPr txBox="1">
                <a:spLocks/>
              </p:cNvSpPr>
              <p:nvPr/>
            </p:nvSpPr>
            <p:spPr>
              <a:xfrm>
                <a:off x="456667" y="1647055"/>
                <a:ext cx="8312189" cy="7268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274300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●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○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rgbClr val="F3F3F3"/>
                  </a:buClr>
                  <a:buSzPts val="1200"/>
                  <a:buFont typeface="Fira Sans Condensed Light"/>
                  <a:buChar char="■"/>
                  <a:defRPr sz="1200" b="0" i="0" u="none" strike="noStrike" cap="none">
                    <a:solidFill>
                      <a:srgbClr val="F3F3F3"/>
                    </a:solidFill>
                    <a:latin typeface="Fira Sans Condensed Light"/>
                    <a:ea typeface="Fira Sans Condensed Light"/>
                    <a:cs typeface="Fira Sans Condensed Light"/>
                    <a:sym typeface="Fira Sans Condensed Light"/>
                  </a:defRPr>
                </a:lvl9pPr>
              </a:lstStyle>
              <a:p>
                <a:pPr marL="152400" indent="0" algn="just">
                  <a:buNone/>
                </a:pPr>
                <a:r>
                  <a:rPr lang="es-ES" sz="1800" b="1" dirty="0">
                    <a:solidFill>
                      <a:schemeClr val="tx2"/>
                    </a:solidFill>
                  </a:rPr>
                  <a:t>Paso 9: 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Generamos la pose en términos de los </a:t>
                </a:r>
                <a:r>
                  <a:rPr lang="es-ES" sz="1800" dirty="0" err="1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desplazmientos</a:t>
                </a:r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 de cada una de las ruedas</a:t>
                </a:r>
                <a14:m>
                  <m:oMath xmlns:m="http://schemas.openxmlformats.org/officeDocument/2006/math">
                    <m:r>
                      <a:rPr lang="es-ES" sz="18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18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GB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s-ES" sz="1800" dirty="0">
                    <a:solidFill>
                      <a:schemeClr val="bg1">
                        <a:lumMod val="60000"/>
                        <a:lumOff val="40000"/>
                      </a:schemeClr>
                    </a:solidFill>
                  </a:rPr>
                  <a:t> 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8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GB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s-ES" sz="18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Google Shape;1762;p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67" y="1647055"/>
                <a:ext cx="8312189" cy="726831"/>
              </a:xfrm>
              <a:prstGeom prst="rect">
                <a:avLst/>
              </a:prstGeom>
              <a:blipFill>
                <a:blip r:embed="rId4"/>
                <a:stretch>
                  <a:fillRect r="-587" b="-243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C1C44E94-8FBF-1BD1-40DF-1EBB8741CCEC}"/>
              </a:ext>
            </a:extLst>
          </p:cNvPr>
          <p:cNvSpPr txBox="1">
            <a:spLocks/>
          </p:cNvSpPr>
          <p:nvPr/>
        </p:nvSpPr>
        <p:spPr>
          <a:xfrm>
            <a:off x="530729" y="661197"/>
            <a:ext cx="619831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Estimación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de la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posición</a:t>
            </a:r>
            <a:endParaRPr lang="en-US" sz="3000" b="1" dirty="0">
              <a:solidFill>
                <a:srgbClr val="F3F3F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Localizaci</a:t>
            </a:r>
            <a:r>
              <a:rPr lang="en-US" sz="30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ón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E2165F4-EA88-7863-59E4-9A40B013C467}"/>
                  </a:ext>
                </a:extLst>
              </p:cNvPr>
              <p:cNvSpPr txBox="1"/>
              <p:nvPr/>
            </p:nvSpPr>
            <p:spPr>
              <a:xfrm>
                <a:off x="2304527" y="2787044"/>
                <a:ext cx="4616468" cy="1365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1800" i="1" u="none" strike="noStrike" baseline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l-GR" sz="18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s-ES" sz="1800" i="1" u="none" strike="noStrike" baseline="0" dirty="0">
                    <a:solidFill>
                      <a:schemeClr val="tx2"/>
                    </a:solidFill>
                    <a:latin typeface="CambriaMath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l-GR" sz="18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s-ES" sz="1800" i="1" u="none" strike="noStrike" dirty="0">
                    <a:solidFill>
                      <a:schemeClr val="tx2"/>
                    </a:solidFill>
                    <a:latin typeface="CambriaMath"/>
                  </a:rPr>
                  <a:t> +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ES" sz="1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ES" sz="18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s-ES" sz="1800" b="1" i="1" dirty="0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l-GR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sSub>
                                        <m:sSubPr>
                                          <m:ctrlPr>
                                            <a:rPr lang="en-GB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𝑺</m:t>
                                          </m:r>
                                        </m:e>
                                        <m:sub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sub>
                                      </m:sSub>
                                      <m:r>
                                        <a:rPr lang="es-ES" sz="1800" b="1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s-ES" sz="1800" b="1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sSub>
                                        <m:sSubPr>
                                          <m:ctrlPr>
                                            <a:rPr lang="en-GB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𝑺</m:t>
                                          </m:r>
                                        </m:e>
                                        <m:sub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𝑳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𝒄𝒐𝒔</m:t>
                                  </m:r>
                                  <m:r>
                                    <a:rPr lang="es-ES" sz="1800" b="1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(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l-GR" sz="18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s-ES" sz="18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s-ES" sz="1800" b="1" i="1" dirty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l-GR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sSub>
                                        <m:sSubPr>
                                          <m:ctrlPr>
                                            <a:rPr lang="en-GB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𝑺</m:t>
                                          </m:r>
                                        </m:e>
                                        <m:sub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sub>
                                      </m:sSub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+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l-GR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sSub>
                                        <m:sSubPr>
                                          <m:ctrlPr>
                                            <a:rPr lang="en-GB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𝑺</m:t>
                                          </m:r>
                                        </m:e>
                                        <m:sub>
                                          <m:r>
                                            <a:rPr lang="es-ES" sz="1800" b="1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𝑳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𝒔𝒆𝒏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 (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l-GR" sz="18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s-ES" sz="18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s-ES" sz="1800" b="1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l-GR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GB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𝑺</m:t>
                                      </m:r>
                                    </m:e>
                                    <m:sub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sub>
                                  </m:sSub>
                                  <m:r>
                                    <a:rPr lang="es-ES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18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GB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𝑺</m:t>
                                      </m:r>
                                    </m:e>
                                    <m:sub>
                                      <m:r>
                                        <a:rPr lang="es-ES" sz="1800" b="1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𝑳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s-ES" sz="1800" b="1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𝒍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s-ES" sz="1800" i="1" u="none" strike="noStrike" baseline="0" dirty="0">
                  <a:solidFill>
                    <a:schemeClr val="tx2"/>
                  </a:solidFill>
                  <a:latin typeface="CambriaMath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E2165F4-EA88-7863-59E4-9A40B013C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527" y="2787044"/>
                <a:ext cx="4616468" cy="13656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4844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000" dirty="0"/>
              <a:t>Clase Actual</a:t>
            </a:r>
            <a:endParaRPr sz="4000" dirty="0"/>
          </a:p>
        </p:txBody>
      </p:sp>
      <p:sp>
        <p:nvSpPr>
          <p:cNvPr id="175" name="Google Shape;175;p30"/>
          <p:cNvSpPr txBox="1">
            <a:spLocks noGrp="1"/>
          </p:cNvSpPr>
          <p:nvPr>
            <p:ph type="subTitle" idx="1"/>
          </p:nvPr>
        </p:nvSpPr>
        <p:spPr>
          <a:xfrm>
            <a:off x="4917750" y="3290550"/>
            <a:ext cx="3175216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SzPts val="1300"/>
            </a:pPr>
            <a:r>
              <a:rPr lang="es-ES" dirty="0"/>
              <a:t> -Control de posicionamiento de un robot diferencial</a:t>
            </a:r>
            <a:endParaRPr dirty="0"/>
          </a:p>
        </p:txBody>
      </p:sp>
      <p:sp>
        <p:nvSpPr>
          <p:cNvPr id="176" name="Google Shape;176;p30"/>
          <p:cNvSpPr txBox="1">
            <a:spLocks noGrp="1"/>
          </p:cNvSpPr>
          <p:nvPr>
            <p:ph type="title" idx="2"/>
          </p:nvPr>
        </p:nvSpPr>
        <p:spPr>
          <a:xfrm>
            <a:off x="4849170" y="1001125"/>
            <a:ext cx="2184676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11</a:t>
            </a:r>
            <a:endParaRPr dirty="0"/>
          </a:p>
        </p:txBody>
      </p:sp>
      <p:cxnSp>
        <p:nvCxnSpPr>
          <p:cNvPr id="177" name="Google Shape;177;p30"/>
          <p:cNvCxnSpPr/>
          <p:nvPr/>
        </p:nvCxnSpPr>
        <p:spPr>
          <a:xfrm rot="10800000" flipH="1">
            <a:off x="5001175" y="3111650"/>
            <a:ext cx="3425700" cy="21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7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PhD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256409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>
            <a:cxnSpLocks/>
          </p:cNvCxnSpPr>
          <p:nvPr/>
        </p:nvCxnSpPr>
        <p:spPr>
          <a:xfrm>
            <a:off x="433222" y="777488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C1C44E94-8FBF-1BD1-40DF-1EBB8741CCEC}"/>
              </a:ext>
            </a:extLst>
          </p:cNvPr>
          <p:cNvSpPr txBox="1">
            <a:spLocks/>
          </p:cNvSpPr>
          <p:nvPr/>
        </p:nvSpPr>
        <p:spPr>
          <a:xfrm>
            <a:off x="534853" y="623903"/>
            <a:ext cx="768714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Robots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Móviles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con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ruedas</a:t>
            </a:r>
            <a:endParaRPr kumimoji="0" lang="en-U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Control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posición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de un Robot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diferencial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3" name="Google Shape;1762;p45">
            <a:extLst>
              <a:ext uri="{FF2B5EF4-FFF2-40B4-BE49-F238E27FC236}">
                <a16:creationId xmlns:a16="http://schemas.microsoft.com/office/drawing/2014/main" id="{BC5F3AD2-1CC9-6B1F-9200-3B16F7DF3A59}"/>
              </a:ext>
            </a:extLst>
          </p:cNvPr>
          <p:cNvSpPr txBox="1">
            <a:spLocks/>
          </p:cNvSpPr>
          <p:nvPr/>
        </p:nvSpPr>
        <p:spPr>
          <a:xfrm>
            <a:off x="433222" y="2123304"/>
            <a:ext cx="3727938" cy="726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Definición </a:t>
            </a:r>
          </a:p>
          <a:p>
            <a:pPr marL="152400" indent="0" algn="just">
              <a:buNone/>
            </a:pPr>
            <a:r>
              <a:rPr lang="es-ES" sz="1600" dirty="0">
                <a:solidFill>
                  <a:schemeClr val="tx2"/>
                </a:solidFill>
              </a:rPr>
              <a:t>El </a:t>
            </a:r>
            <a:r>
              <a:rPr lang="es-ES" sz="1600" b="1" dirty="0">
                <a:solidFill>
                  <a:schemeClr val="tx2"/>
                </a:solidFill>
              </a:rPr>
              <a:t>control de posición </a:t>
            </a:r>
            <a:r>
              <a:rPr lang="es-ES" sz="1600" dirty="0">
                <a:solidFill>
                  <a:schemeClr val="tx2"/>
                </a:solidFill>
              </a:rPr>
              <a:t>consiste en ubicar al robot en un punto de referencia deseado, con o sin una orientación deseada.</a:t>
            </a:r>
            <a:endParaRPr lang="en-US" sz="16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60B520-DDC0-7473-746D-64F7C2AB42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13"/>
          <a:stretch/>
        </p:blipFill>
        <p:spPr bwMode="auto">
          <a:xfrm>
            <a:off x="4869202" y="1663936"/>
            <a:ext cx="3352799" cy="3369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333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cxnSp>
        <p:nvCxnSpPr>
          <p:cNvPr id="8" name="Google Shape;137;p27"/>
          <p:cNvCxnSpPr>
            <a:cxnSpLocks/>
          </p:cNvCxnSpPr>
          <p:nvPr/>
        </p:nvCxnSpPr>
        <p:spPr>
          <a:xfrm>
            <a:off x="433222" y="777488"/>
            <a:ext cx="0" cy="83823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36;p27"/>
          <p:cNvSpPr txBox="1">
            <a:spLocks/>
          </p:cNvSpPr>
          <p:nvPr/>
        </p:nvSpPr>
        <p:spPr>
          <a:xfrm>
            <a:off x="283779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sym typeface="Arial"/>
              </a:rPr>
              <a:t> Alfredo García Suárez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99;p36">
            <a:extLst>
              <a:ext uri="{FF2B5EF4-FFF2-40B4-BE49-F238E27FC236}">
                <a16:creationId xmlns:a16="http://schemas.microsoft.com/office/drawing/2014/main" id="{C1C44E94-8FBF-1BD1-40DF-1EBB8741CCEC}"/>
              </a:ext>
            </a:extLst>
          </p:cNvPr>
          <p:cNvSpPr txBox="1">
            <a:spLocks/>
          </p:cNvSpPr>
          <p:nvPr/>
        </p:nvSpPr>
        <p:spPr>
          <a:xfrm>
            <a:off x="534853" y="623903"/>
            <a:ext cx="768714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Robots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Móviles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con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ruedas</a:t>
            </a:r>
            <a:endParaRPr kumimoji="0" lang="en-US" sz="3000" b="1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Control de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posición</a:t>
            </a: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de un Robot </a:t>
            </a: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diferencial</a:t>
            </a: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0000"/>
                  <a:lumOff val="40000"/>
                </a:schemeClr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3" name="Google Shape;1762;p45">
            <a:extLst>
              <a:ext uri="{FF2B5EF4-FFF2-40B4-BE49-F238E27FC236}">
                <a16:creationId xmlns:a16="http://schemas.microsoft.com/office/drawing/2014/main" id="{BC5F3AD2-1CC9-6B1F-9200-3B16F7DF3A59}"/>
              </a:ext>
            </a:extLst>
          </p:cNvPr>
          <p:cNvSpPr txBox="1">
            <a:spLocks/>
          </p:cNvSpPr>
          <p:nvPr/>
        </p:nvSpPr>
        <p:spPr>
          <a:xfrm>
            <a:off x="524952" y="2696278"/>
            <a:ext cx="3727938" cy="726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Diseño </a:t>
            </a:r>
          </a:p>
          <a:p>
            <a:pPr marL="152400" indent="0" algn="just">
              <a:buNone/>
            </a:pPr>
            <a:r>
              <a:rPr lang="es-ES" sz="1600" dirty="0">
                <a:solidFill>
                  <a:schemeClr val="tx2"/>
                </a:solidFill>
              </a:rPr>
              <a:t>Para el diseño del algoritmo de control se utiliza la teoría de </a:t>
            </a:r>
            <a:r>
              <a:rPr lang="es-ES" sz="1600" b="1" dirty="0" err="1">
                <a:solidFill>
                  <a:schemeClr val="tx2"/>
                </a:solidFill>
              </a:rPr>
              <a:t>Lyapunov</a:t>
            </a:r>
            <a:r>
              <a:rPr lang="es-ES" sz="1600" b="1" dirty="0">
                <a:solidFill>
                  <a:schemeClr val="tx2"/>
                </a:solidFill>
              </a:rPr>
              <a:t>. </a:t>
            </a:r>
            <a:r>
              <a:rPr lang="es-ES" sz="1600" dirty="0">
                <a:solidFill>
                  <a:schemeClr val="tx2"/>
                </a:solidFill>
              </a:rPr>
              <a:t>El resultado se muestra en la siguiente ecuación. Donde:</a:t>
            </a:r>
          </a:p>
          <a:p>
            <a:pPr marL="152400" indent="0" algn="just">
              <a:buNone/>
            </a:pPr>
            <a:endParaRPr lang="es-ES" sz="1600" dirty="0">
              <a:solidFill>
                <a:schemeClr val="tx2"/>
              </a:solidFill>
            </a:endParaRPr>
          </a:p>
          <a:p>
            <a:pPr marL="152400" indent="0" algn="just">
              <a:buNone/>
            </a:pP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b="1" dirty="0">
                <a:solidFill>
                  <a:schemeClr val="tx2"/>
                </a:solidFill>
              </a:rPr>
              <a:t>K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es una matriz de ganancias definida positiva (generalmente diagonal)</a:t>
            </a:r>
          </a:p>
          <a:p>
            <a:pPr marL="152400" indent="0" algn="just">
              <a:buNone/>
            </a:pPr>
            <a:r>
              <a:rPr lang="es-ES" sz="1600" b="1" dirty="0">
                <a:solidFill>
                  <a:schemeClr val="tx2"/>
                </a:solidFill>
              </a:rPr>
              <a:t>he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es el error </a:t>
            </a:r>
          </a:p>
          <a:p>
            <a:pPr marL="152400" indent="0" algn="just">
              <a:buNone/>
            </a:pPr>
            <a:r>
              <a:rPr lang="es-ES" sz="1600" b="1" dirty="0">
                <a:solidFill>
                  <a:schemeClr val="tx2"/>
                </a:solidFill>
              </a:rPr>
              <a:t>J</a:t>
            </a:r>
            <a:r>
              <a:rPr lang="es-ES" sz="1600" dirty="0">
                <a:solidFill>
                  <a:schemeClr val="tx2"/>
                </a:solidFill>
              </a:rPr>
              <a:t> 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</a:rPr>
              <a:t>es la matriz Jacobiana.</a:t>
            </a:r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803CA4E-742C-33E1-A996-B4216A952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374290"/>
            <a:ext cx="4248150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762;p45">
            <a:extLst>
              <a:ext uri="{FF2B5EF4-FFF2-40B4-BE49-F238E27FC236}">
                <a16:creationId xmlns:a16="http://schemas.microsoft.com/office/drawing/2014/main" id="{75B58DBF-9519-59EF-C24F-D07E71991345}"/>
              </a:ext>
            </a:extLst>
          </p:cNvPr>
          <p:cNvSpPr txBox="1">
            <a:spLocks/>
          </p:cNvSpPr>
          <p:nvPr/>
        </p:nvSpPr>
        <p:spPr>
          <a:xfrm>
            <a:off x="5314678" y="3792766"/>
            <a:ext cx="2703907" cy="726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152400" indent="0" algn="just">
              <a:buNone/>
            </a:pP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Ley de Control de Lyapunov</a:t>
            </a:r>
          </a:p>
        </p:txBody>
      </p:sp>
    </p:spTree>
    <p:extLst>
      <p:ext uri="{BB962C8B-B14F-4D97-AF65-F5344CB8AC3E}">
        <p14:creationId xmlns:p14="http://schemas.microsoft.com/office/powerpoint/2010/main" val="1526327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378521" y="768707"/>
            <a:ext cx="766351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5.1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(Control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Posición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3077" y="1263592"/>
            <a:ext cx="8763167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Crear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nuevo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Actividad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5.1 (Control de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Posición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)</a:t>
            </a:r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Implementar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código requerido para generar el control de posición del robot tipo diferencial en los siguientes puntos deseados:</a:t>
            </a:r>
            <a:endParaRPr lang="es-E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a) (1, 2)   b) (3, 7)   c) (6, 0)   d) (-4, 5)   e) (-6, 0)   f) (-1, 0)   g) (-7, -7)   h) (-2, -4)  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) (- 0.5, -0.5)   j) (1, -3)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k) (3, -5)   l) (8, 0)   m) (0, -3)   n) (0, 9)   ñ) (0, -1)   o) (-5, -10)   p) (7, -7)   q) (3, -1)   r) (- 10, -10)   s) (10, 9)</a:t>
            </a: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Genera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análisis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comparativo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empleando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valores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ganancias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diferentes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explica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cual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sería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mejor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sintonización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para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posicionar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al robot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cada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punto (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Incluye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gráficas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respuesta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para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cada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caso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). 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debe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contener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análisis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comparativo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cada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coordenada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formato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word.</a:t>
            </a:r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4262064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The Learning Gate | Tec de Monterrey"/>
          <p:cNvPicPr>
            <a:picLocks noChangeAspect="1" noChangeArrowheads="1"/>
          </p:cNvPicPr>
          <p:nvPr/>
        </p:nvPicPr>
        <p:blipFill>
          <a:blip r:embed="rId3">
            <a:lum bright="100000" contrast="100000"/>
          </a:blip>
          <a:srcRect/>
          <a:stretch>
            <a:fillRect/>
          </a:stretch>
        </p:blipFill>
        <p:spPr bwMode="auto">
          <a:xfrm>
            <a:off x="6033052" y="308116"/>
            <a:ext cx="2818846" cy="494885"/>
          </a:xfrm>
          <a:prstGeom prst="rect">
            <a:avLst/>
          </a:prstGeom>
          <a:noFill/>
        </p:spPr>
      </p:pic>
      <p:sp>
        <p:nvSpPr>
          <p:cNvPr id="151" name="Google Shape;699;p36"/>
          <p:cNvSpPr txBox="1">
            <a:spLocks/>
          </p:cNvSpPr>
          <p:nvPr/>
        </p:nvSpPr>
        <p:spPr>
          <a:xfrm>
            <a:off x="292102" y="875099"/>
            <a:ext cx="775729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5.1 (Control de </a:t>
            </a: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Posición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14998" y="1142843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3077" y="1415991"/>
            <a:ext cx="8763167" cy="3350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Generar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reporte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pasos para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poder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obtener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control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posición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coordenadas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deseadas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(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Descrito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punto 3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)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plantear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estrategia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para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generar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controlador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ganancias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auto-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sintonizable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Incluir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Código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MATLAB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5. Subir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r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998984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768;p46"/>
          <p:cNvSpPr txBox="1">
            <a:spLocks/>
          </p:cNvSpPr>
          <p:nvPr/>
        </p:nvSpPr>
        <p:spPr>
          <a:xfrm>
            <a:off x="2562175" y="725400"/>
            <a:ext cx="4020000" cy="1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defRPr sz="3000" b="1" i="0" u="none" strike="noStrike" cap="none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es-ES" dirty="0"/>
              <a:t>Fin de la Sesión</a:t>
            </a:r>
          </a:p>
        </p:txBody>
      </p:sp>
      <p:sp>
        <p:nvSpPr>
          <p:cNvPr id="7" name="Google Shape;1769;p46"/>
          <p:cNvSpPr txBox="1">
            <a:spLocks/>
          </p:cNvSpPr>
          <p:nvPr/>
        </p:nvSpPr>
        <p:spPr>
          <a:xfrm>
            <a:off x="2561975" y="2105100"/>
            <a:ext cx="4020000" cy="1203900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Fira Sans Condensed Light"/>
              <a:buAutoNum type="arabicPeriod"/>
              <a:defRPr sz="13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rabi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Fira Sans Condensed Light"/>
              <a:buAutoNum type="alpha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Fira Sans Condensed Light"/>
              <a:buAutoNum type="romanLcPeriod"/>
              <a:defRPr sz="1200" b="0" i="0" u="none" strike="noStrike" cap="none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Preguntas?</a:t>
            </a:r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>
                <a:hlinkClick r:id="rId4"/>
              </a:rPr>
              <a:t>Alfredo.garcias@tec.mx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/>
              <a:t>https://itesm.zoom.us/j/9648719322</a:t>
            </a:r>
            <a:endParaRPr lang="es-ES" dirty="0"/>
          </a:p>
          <a:p>
            <a:pPr marL="0" indent="0" algn="ctr">
              <a:buClr>
                <a:schemeClr val="dk1"/>
              </a:buClr>
              <a:buFont typeface="Arial"/>
              <a:buNone/>
            </a:pPr>
            <a:r>
              <a:rPr lang="es-ES" dirty="0"/>
              <a:t> </a:t>
            </a:r>
          </a:p>
        </p:txBody>
      </p:sp>
      <p:grpSp>
        <p:nvGrpSpPr>
          <p:cNvPr id="8" name="Google Shape;1771;p46"/>
          <p:cNvGrpSpPr/>
          <p:nvPr/>
        </p:nvGrpSpPr>
        <p:grpSpPr>
          <a:xfrm>
            <a:off x="3914560" y="3451633"/>
            <a:ext cx="268782" cy="268485"/>
            <a:chOff x="3303268" y="3817349"/>
            <a:chExt cx="346056" cy="345674"/>
          </a:xfrm>
        </p:grpSpPr>
        <p:sp>
          <p:nvSpPr>
            <p:cNvPr id="9" name="Google Shape;1772;p46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73;p46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74;p46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75;p46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776;p46"/>
          <p:cNvGrpSpPr/>
          <p:nvPr/>
        </p:nvGrpSpPr>
        <p:grpSpPr>
          <a:xfrm>
            <a:off x="4263368" y="3451633"/>
            <a:ext cx="268782" cy="268485"/>
            <a:chOff x="3752358" y="3817349"/>
            <a:chExt cx="346056" cy="345674"/>
          </a:xfrm>
        </p:grpSpPr>
        <p:sp>
          <p:nvSpPr>
            <p:cNvPr id="14" name="Google Shape;1777;p46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78;p46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79;p46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80;p46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781;p46"/>
          <p:cNvGrpSpPr/>
          <p:nvPr/>
        </p:nvGrpSpPr>
        <p:grpSpPr>
          <a:xfrm>
            <a:off x="4612176" y="3451633"/>
            <a:ext cx="268757" cy="268485"/>
            <a:chOff x="4201447" y="3817349"/>
            <a:chExt cx="346024" cy="345674"/>
          </a:xfrm>
        </p:grpSpPr>
        <p:sp>
          <p:nvSpPr>
            <p:cNvPr id="19" name="Google Shape;1782;p46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83;p46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784;p46"/>
          <p:cNvGrpSpPr/>
          <p:nvPr/>
        </p:nvGrpSpPr>
        <p:grpSpPr>
          <a:xfrm>
            <a:off x="4960939" y="3451633"/>
            <a:ext cx="268460" cy="268485"/>
            <a:chOff x="5549861" y="3817349"/>
            <a:chExt cx="345642" cy="345674"/>
          </a:xfrm>
        </p:grpSpPr>
        <p:sp>
          <p:nvSpPr>
            <p:cNvPr id="22" name="Google Shape;1785;p46"/>
            <p:cNvSpPr/>
            <p:nvPr/>
          </p:nvSpPr>
          <p:spPr>
            <a:xfrm>
              <a:off x="5549861" y="3817349"/>
              <a:ext cx="345642" cy="345674"/>
            </a:xfrm>
            <a:custGeom>
              <a:avLst/>
              <a:gdLst/>
              <a:ahLst/>
              <a:cxnLst/>
              <a:rect l="l" t="t" r="r" b="b"/>
              <a:pathLst>
                <a:path w="10859" h="10860" extrusionOk="0">
                  <a:moveTo>
                    <a:pt x="5429" y="334"/>
                  </a:moveTo>
                  <a:cubicBezTo>
                    <a:pt x="8239" y="334"/>
                    <a:pt x="10513" y="2608"/>
                    <a:pt x="10513" y="5430"/>
                  </a:cubicBezTo>
                  <a:cubicBezTo>
                    <a:pt x="10513" y="8240"/>
                    <a:pt x="8227" y="10514"/>
                    <a:pt x="5429" y="10514"/>
                  </a:cubicBezTo>
                  <a:cubicBezTo>
                    <a:pt x="2619" y="10514"/>
                    <a:pt x="333" y="8240"/>
                    <a:pt x="333" y="5430"/>
                  </a:cubicBezTo>
                  <a:cubicBezTo>
                    <a:pt x="333" y="2608"/>
                    <a:pt x="2619" y="334"/>
                    <a:pt x="5429" y="334"/>
                  </a:cubicBezTo>
                  <a:close/>
                  <a:moveTo>
                    <a:pt x="5429" y="1"/>
                  </a:moveTo>
                  <a:cubicBezTo>
                    <a:pt x="3989" y="1"/>
                    <a:pt x="2619" y="560"/>
                    <a:pt x="1584" y="1584"/>
                  </a:cubicBezTo>
                  <a:cubicBezTo>
                    <a:pt x="560" y="2620"/>
                    <a:pt x="0" y="3989"/>
                    <a:pt x="0" y="5430"/>
                  </a:cubicBezTo>
                  <a:cubicBezTo>
                    <a:pt x="0" y="6871"/>
                    <a:pt x="560" y="8240"/>
                    <a:pt x="1584" y="9264"/>
                  </a:cubicBezTo>
                  <a:cubicBezTo>
                    <a:pt x="2619" y="10300"/>
                    <a:pt x="3989" y="10859"/>
                    <a:pt x="5429" y="10859"/>
                  </a:cubicBezTo>
                  <a:cubicBezTo>
                    <a:pt x="6870" y="10859"/>
                    <a:pt x="8239" y="10300"/>
                    <a:pt x="9263" y="9264"/>
                  </a:cubicBezTo>
                  <a:cubicBezTo>
                    <a:pt x="10299" y="8240"/>
                    <a:pt x="10859" y="6871"/>
                    <a:pt x="10859" y="5430"/>
                  </a:cubicBezTo>
                  <a:cubicBezTo>
                    <a:pt x="10859" y="3989"/>
                    <a:pt x="10299" y="2620"/>
                    <a:pt x="9263" y="1584"/>
                  </a:cubicBezTo>
                  <a:cubicBezTo>
                    <a:pt x="8239" y="560"/>
                    <a:pt x="6870" y="1"/>
                    <a:pt x="542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86;p46"/>
            <p:cNvSpPr/>
            <p:nvPr/>
          </p:nvSpPr>
          <p:spPr>
            <a:xfrm>
              <a:off x="5590763" y="3890208"/>
              <a:ext cx="262661" cy="200052"/>
            </a:xfrm>
            <a:custGeom>
              <a:avLst/>
              <a:gdLst/>
              <a:ahLst/>
              <a:cxnLst/>
              <a:rect l="l" t="t" r="r" b="b"/>
              <a:pathLst>
                <a:path w="8252" h="6285" extrusionOk="0">
                  <a:moveTo>
                    <a:pt x="4123" y="1"/>
                  </a:moveTo>
                  <a:cubicBezTo>
                    <a:pt x="3010" y="1"/>
                    <a:pt x="1900" y="63"/>
                    <a:pt x="799" y="188"/>
                  </a:cubicBezTo>
                  <a:cubicBezTo>
                    <a:pt x="513" y="224"/>
                    <a:pt x="287" y="450"/>
                    <a:pt x="239" y="712"/>
                  </a:cubicBezTo>
                  <a:cubicBezTo>
                    <a:pt x="1" y="2319"/>
                    <a:pt x="1" y="3963"/>
                    <a:pt x="239" y="5570"/>
                  </a:cubicBezTo>
                  <a:cubicBezTo>
                    <a:pt x="287" y="5844"/>
                    <a:pt x="513" y="6058"/>
                    <a:pt x="799" y="6082"/>
                  </a:cubicBezTo>
                  <a:cubicBezTo>
                    <a:pt x="1894" y="6201"/>
                    <a:pt x="3013" y="6284"/>
                    <a:pt x="4132" y="6284"/>
                  </a:cubicBezTo>
                  <a:cubicBezTo>
                    <a:pt x="4609" y="6284"/>
                    <a:pt x="5085" y="6260"/>
                    <a:pt x="5561" y="6249"/>
                  </a:cubicBezTo>
                  <a:cubicBezTo>
                    <a:pt x="5644" y="6249"/>
                    <a:pt x="5716" y="6177"/>
                    <a:pt x="5716" y="6070"/>
                  </a:cubicBezTo>
                  <a:cubicBezTo>
                    <a:pt x="5716" y="5963"/>
                    <a:pt x="5633" y="5891"/>
                    <a:pt x="5537" y="5891"/>
                  </a:cubicBezTo>
                  <a:cubicBezTo>
                    <a:pt x="5051" y="5914"/>
                    <a:pt x="4564" y="5925"/>
                    <a:pt x="4076" y="5925"/>
                  </a:cubicBezTo>
                  <a:cubicBezTo>
                    <a:pt x="2998" y="5925"/>
                    <a:pt x="1916" y="5868"/>
                    <a:pt x="834" y="5737"/>
                  </a:cubicBezTo>
                  <a:cubicBezTo>
                    <a:pt x="715" y="5725"/>
                    <a:pt x="620" y="5641"/>
                    <a:pt x="596" y="5498"/>
                  </a:cubicBezTo>
                  <a:cubicBezTo>
                    <a:pt x="382" y="3927"/>
                    <a:pt x="382" y="2319"/>
                    <a:pt x="596" y="736"/>
                  </a:cubicBezTo>
                  <a:cubicBezTo>
                    <a:pt x="620" y="617"/>
                    <a:pt x="715" y="522"/>
                    <a:pt x="834" y="498"/>
                  </a:cubicBezTo>
                  <a:cubicBezTo>
                    <a:pt x="1942" y="379"/>
                    <a:pt x="3037" y="319"/>
                    <a:pt x="4144" y="319"/>
                  </a:cubicBezTo>
                  <a:cubicBezTo>
                    <a:pt x="5240" y="319"/>
                    <a:pt x="6347" y="379"/>
                    <a:pt x="7442" y="498"/>
                  </a:cubicBezTo>
                  <a:cubicBezTo>
                    <a:pt x="7561" y="522"/>
                    <a:pt x="7669" y="605"/>
                    <a:pt x="7680" y="736"/>
                  </a:cubicBezTo>
                  <a:cubicBezTo>
                    <a:pt x="7907" y="2319"/>
                    <a:pt x="7907" y="3927"/>
                    <a:pt x="7680" y="5498"/>
                  </a:cubicBezTo>
                  <a:cubicBezTo>
                    <a:pt x="7669" y="5617"/>
                    <a:pt x="7561" y="5725"/>
                    <a:pt x="7442" y="5737"/>
                  </a:cubicBezTo>
                  <a:cubicBezTo>
                    <a:pt x="7085" y="5784"/>
                    <a:pt x="6752" y="5820"/>
                    <a:pt x="6395" y="5844"/>
                  </a:cubicBezTo>
                  <a:cubicBezTo>
                    <a:pt x="6299" y="5844"/>
                    <a:pt x="6228" y="5927"/>
                    <a:pt x="6228" y="6010"/>
                  </a:cubicBezTo>
                  <a:cubicBezTo>
                    <a:pt x="6228" y="6110"/>
                    <a:pt x="6299" y="6178"/>
                    <a:pt x="6386" y="6178"/>
                  </a:cubicBezTo>
                  <a:cubicBezTo>
                    <a:pt x="6393" y="6178"/>
                    <a:pt x="6399" y="6178"/>
                    <a:pt x="6406" y="6177"/>
                  </a:cubicBezTo>
                  <a:cubicBezTo>
                    <a:pt x="6764" y="6141"/>
                    <a:pt x="7121" y="6118"/>
                    <a:pt x="7478" y="6070"/>
                  </a:cubicBezTo>
                  <a:cubicBezTo>
                    <a:pt x="7764" y="6034"/>
                    <a:pt x="7978" y="5820"/>
                    <a:pt x="8026" y="5546"/>
                  </a:cubicBezTo>
                  <a:cubicBezTo>
                    <a:pt x="8252" y="3963"/>
                    <a:pt x="8252" y="2319"/>
                    <a:pt x="8014" y="712"/>
                  </a:cubicBezTo>
                  <a:cubicBezTo>
                    <a:pt x="7966" y="426"/>
                    <a:pt x="7740" y="224"/>
                    <a:pt x="7466" y="188"/>
                  </a:cubicBezTo>
                  <a:cubicBezTo>
                    <a:pt x="6353" y="63"/>
                    <a:pt x="5237" y="1"/>
                    <a:pt x="412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87;p46"/>
            <p:cNvSpPr/>
            <p:nvPr/>
          </p:nvSpPr>
          <p:spPr>
            <a:xfrm>
              <a:off x="5680587" y="3935024"/>
              <a:ext cx="105389" cy="110514"/>
            </a:xfrm>
            <a:custGeom>
              <a:avLst/>
              <a:gdLst/>
              <a:ahLst/>
              <a:cxnLst/>
              <a:rect l="l" t="t" r="r" b="b"/>
              <a:pathLst>
                <a:path w="3311" h="3472" extrusionOk="0">
                  <a:moveTo>
                    <a:pt x="334" y="447"/>
                  </a:moveTo>
                  <a:lnTo>
                    <a:pt x="2763" y="1733"/>
                  </a:lnTo>
                  <a:lnTo>
                    <a:pt x="334" y="3007"/>
                  </a:lnTo>
                  <a:lnTo>
                    <a:pt x="334" y="447"/>
                  </a:lnTo>
                  <a:close/>
                  <a:moveTo>
                    <a:pt x="163" y="1"/>
                  </a:moveTo>
                  <a:cubicBezTo>
                    <a:pt x="135" y="1"/>
                    <a:pt x="108" y="7"/>
                    <a:pt x="84" y="18"/>
                  </a:cubicBezTo>
                  <a:cubicBezTo>
                    <a:pt x="36" y="54"/>
                    <a:pt x="1" y="114"/>
                    <a:pt x="1" y="173"/>
                  </a:cubicBezTo>
                  <a:lnTo>
                    <a:pt x="1" y="3293"/>
                  </a:lnTo>
                  <a:cubicBezTo>
                    <a:pt x="1" y="3352"/>
                    <a:pt x="24" y="3412"/>
                    <a:pt x="84" y="3447"/>
                  </a:cubicBezTo>
                  <a:cubicBezTo>
                    <a:pt x="120" y="3459"/>
                    <a:pt x="144" y="3471"/>
                    <a:pt x="179" y="3471"/>
                  </a:cubicBezTo>
                  <a:cubicBezTo>
                    <a:pt x="203" y="3471"/>
                    <a:pt x="239" y="3471"/>
                    <a:pt x="251" y="3459"/>
                  </a:cubicBezTo>
                  <a:lnTo>
                    <a:pt x="3227" y="1900"/>
                  </a:lnTo>
                  <a:cubicBezTo>
                    <a:pt x="3287" y="1864"/>
                    <a:pt x="3311" y="1804"/>
                    <a:pt x="3311" y="1745"/>
                  </a:cubicBezTo>
                  <a:cubicBezTo>
                    <a:pt x="3311" y="1673"/>
                    <a:pt x="3287" y="1614"/>
                    <a:pt x="3227" y="1578"/>
                  </a:cubicBezTo>
                  <a:lnTo>
                    <a:pt x="251" y="18"/>
                  </a:lnTo>
                  <a:cubicBezTo>
                    <a:pt x="221" y="7"/>
                    <a:pt x="191" y="1"/>
                    <a:pt x="16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solidFill>
            <a:srgbClr val="FFFFFF">
              <a:alpha val="45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tabLst/>
              <a:defRPr/>
            </a:pP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3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  <a:br>
              <a:rPr kumimoji="0" lang="es-ES" sz="13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3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Tech Agency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11371</TotalTime>
  <Words>1379</Words>
  <Application>Microsoft Office PowerPoint</Application>
  <PresentationFormat>Presentación en pantalla (16:9)</PresentationFormat>
  <Paragraphs>188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0" baseType="lpstr">
      <vt:lpstr>Anton</vt:lpstr>
      <vt:lpstr>Arial</vt:lpstr>
      <vt:lpstr>CambriaMath</vt:lpstr>
      <vt:lpstr>Rajdhani</vt:lpstr>
      <vt:lpstr>Cambria Math</vt:lpstr>
      <vt:lpstr>Fira Sans Condensed Light</vt:lpstr>
      <vt:lpstr>Advent Pro Light</vt:lpstr>
      <vt:lpstr>Ai Tech Agency by Slidesgo</vt:lpstr>
      <vt:lpstr>Presentación de PowerPoint</vt:lpstr>
      <vt:lpstr>Bienvenida</vt:lpstr>
      <vt:lpstr>Presentación de PowerPoint</vt:lpstr>
      <vt:lpstr>Complemento de Clase Anterior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Clase Actual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DOCTORAL</dc:title>
  <dc:creator>Alfredo Garcia</dc:creator>
  <cp:lastModifiedBy>Alfredo Garcia Suarez</cp:lastModifiedBy>
  <cp:revision>301</cp:revision>
  <dcterms:modified xsi:type="dcterms:W3CDTF">2026-04-22T16:29:46Z</dcterms:modified>
</cp:coreProperties>
</file>