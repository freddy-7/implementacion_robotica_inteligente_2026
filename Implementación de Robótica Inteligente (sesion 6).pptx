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20"/>
  </p:notesMasterIdLst>
  <p:sldIdLst>
    <p:sldId id="256" r:id="rId2"/>
    <p:sldId id="357" r:id="rId3"/>
    <p:sldId id="358" r:id="rId4"/>
    <p:sldId id="364" r:id="rId5"/>
    <p:sldId id="489" r:id="rId6"/>
    <p:sldId id="488" r:id="rId7"/>
    <p:sldId id="389" r:id="rId8"/>
    <p:sldId id="439" r:id="rId9"/>
    <p:sldId id="440" r:id="rId10"/>
    <p:sldId id="493" r:id="rId11"/>
    <p:sldId id="494" r:id="rId12"/>
    <p:sldId id="495" r:id="rId13"/>
    <p:sldId id="496" r:id="rId14"/>
    <p:sldId id="497" r:id="rId15"/>
    <p:sldId id="498" r:id="rId16"/>
    <p:sldId id="499" r:id="rId17"/>
    <p:sldId id="500" r:id="rId18"/>
    <p:sldId id="280" r:id="rId19"/>
  </p:sldIdLst>
  <p:sldSz cx="9144000" cy="5143500" type="screen16x9"/>
  <p:notesSz cx="6858000" cy="9144000"/>
  <p:embeddedFontLst>
    <p:embeddedFont>
      <p:font typeface="Advent Pro Light" panose="020B0604020202020204" charset="0"/>
      <p:regular r:id="rId21"/>
      <p:bold r:id="rId22"/>
    </p:embeddedFont>
    <p:embeddedFont>
      <p:font typeface="Anton" pitchFamily="2" charset="0"/>
      <p:regular r:id="rId23"/>
    </p:embeddedFont>
    <p:embeddedFont>
      <p:font typeface="Cambria Math" panose="02040503050406030204" pitchFamily="18" charset="0"/>
      <p:regular r:id="rId24"/>
    </p:embeddedFont>
    <p:embeddedFont>
      <p:font typeface="Fira Sans Condensed Light" panose="020B0403050000020004" pitchFamily="34" charset="0"/>
      <p:regular r:id="rId25"/>
      <p:bold r:id="rId26"/>
      <p:italic r:id="rId27"/>
      <p:boldItalic r:id="rId28"/>
    </p:embeddedFont>
    <p:embeddedFont>
      <p:font typeface="Rajdhani" panose="020B060402020202020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E397FE-706D-4E7D-AA01-638484C1D090}">
  <a:tblStyle styleId="{95E397FE-706D-4E7D-AA01-638484C1D0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909" autoAdjust="0"/>
  </p:normalViewPr>
  <p:slideViewPr>
    <p:cSldViewPr snapToGrid="0">
      <p:cViewPr varScale="1">
        <p:scale>
          <a:sx n="82" d="100"/>
          <a:sy n="82" d="100"/>
        </p:scale>
        <p:origin x="105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7539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0075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0665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7970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7915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528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9210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52067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>
          <a:extLst>
            <a:ext uri="{FF2B5EF4-FFF2-40B4-BE49-F238E27FC236}">
              <a16:creationId xmlns:a16="http://schemas.microsoft.com/office/drawing/2014/main" id="{46FD67DB-BDE3-1AB7-5B48-5788B8011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>
            <a:extLst>
              <a:ext uri="{FF2B5EF4-FFF2-40B4-BE49-F238E27FC236}">
                <a16:creationId xmlns:a16="http://schemas.microsoft.com/office/drawing/2014/main" id="{E0BF0780-02E1-FCA3-A9A6-4B1D868F50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>
            <a:extLst>
              <a:ext uri="{FF2B5EF4-FFF2-40B4-BE49-F238E27FC236}">
                <a16:creationId xmlns:a16="http://schemas.microsoft.com/office/drawing/2014/main" id="{E1A50311-96D9-B044-201C-E54770C6EA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28860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>
          <a:extLst>
            <a:ext uri="{FF2B5EF4-FFF2-40B4-BE49-F238E27FC236}">
              <a16:creationId xmlns:a16="http://schemas.microsoft.com/office/drawing/2014/main" id="{6BA969B4-C5BA-535C-AC51-AEA4BEA1D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>
            <a:extLst>
              <a:ext uri="{FF2B5EF4-FFF2-40B4-BE49-F238E27FC236}">
                <a16:creationId xmlns:a16="http://schemas.microsoft.com/office/drawing/2014/main" id="{4C763040-3D43-0F13-BF13-8ABBD53AD1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>
            <a:extLst>
              <a:ext uri="{FF2B5EF4-FFF2-40B4-BE49-F238E27FC236}">
                <a16:creationId xmlns:a16="http://schemas.microsoft.com/office/drawing/2014/main" id="{03CE3056-7E5D-5E4C-E727-482F202877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71099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>
          <a:extLst>
            <a:ext uri="{FF2B5EF4-FFF2-40B4-BE49-F238E27FC236}">
              <a16:creationId xmlns:a16="http://schemas.microsoft.com/office/drawing/2014/main" id="{78B339B1-6D40-C44A-492F-E1514B5C0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>
            <a:extLst>
              <a:ext uri="{FF2B5EF4-FFF2-40B4-BE49-F238E27FC236}">
                <a16:creationId xmlns:a16="http://schemas.microsoft.com/office/drawing/2014/main" id="{47977F9B-037D-ABCE-2D28-188DD8FE13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>
            <a:extLst>
              <a:ext uri="{FF2B5EF4-FFF2-40B4-BE49-F238E27FC236}">
                <a16:creationId xmlns:a16="http://schemas.microsoft.com/office/drawing/2014/main" id="{F559396F-CE41-ADEF-3ACF-6E0FB9E813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19192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>
          <a:extLst>
            <a:ext uri="{FF2B5EF4-FFF2-40B4-BE49-F238E27FC236}">
              <a16:creationId xmlns:a16="http://schemas.microsoft.com/office/drawing/2014/main" id="{834A1CC6-5957-3DD3-FCA0-B0677C1AB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>
            <a:extLst>
              <a:ext uri="{FF2B5EF4-FFF2-40B4-BE49-F238E27FC236}">
                <a16:creationId xmlns:a16="http://schemas.microsoft.com/office/drawing/2014/main" id="{3923F5DD-D8C2-258B-2F3B-3F32A8F1BC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>
            <a:extLst>
              <a:ext uri="{FF2B5EF4-FFF2-40B4-BE49-F238E27FC236}">
                <a16:creationId xmlns:a16="http://schemas.microsoft.com/office/drawing/2014/main" id="{F90B5AC4-0A0F-4284-0D44-5D417A5372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78709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>
          <a:extLst>
            <a:ext uri="{FF2B5EF4-FFF2-40B4-BE49-F238E27FC236}">
              <a16:creationId xmlns:a16="http://schemas.microsoft.com/office/drawing/2014/main" id="{D53A1B69-995A-B4EF-BE75-0253AE6FD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>
            <a:extLst>
              <a:ext uri="{FF2B5EF4-FFF2-40B4-BE49-F238E27FC236}">
                <a16:creationId xmlns:a16="http://schemas.microsoft.com/office/drawing/2014/main" id="{B3810515-4A30-8C59-242C-42E854DCC4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>
            <a:extLst>
              <a:ext uri="{FF2B5EF4-FFF2-40B4-BE49-F238E27FC236}">
                <a16:creationId xmlns:a16="http://schemas.microsoft.com/office/drawing/2014/main" id="{D1A05F13-2D7C-AE92-35D5-E6D6E2BDC4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44460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>
          <a:extLst>
            <a:ext uri="{FF2B5EF4-FFF2-40B4-BE49-F238E27FC236}">
              <a16:creationId xmlns:a16="http://schemas.microsoft.com/office/drawing/2014/main" id="{E31EFA79-40D9-CF27-60E3-86DA0856B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>
            <a:extLst>
              <a:ext uri="{FF2B5EF4-FFF2-40B4-BE49-F238E27FC236}">
                <a16:creationId xmlns:a16="http://schemas.microsoft.com/office/drawing/2014/main" id="{1D654F29-B7C6-8384-B5C4-5D82C1C625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>
            <a:extLst>
              <a:ext uri="{FF2B5EF4-FFF2-40B4-BE49-F238E27FC236}">
                <a16:creationId xmlns:a16="http://schemas.microsoft.com/office/drawing/2014/main" id="{C40B09E1-E01B-AD3E-637E-AF39781A76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67850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>
          <a:extLst>
            <a:ext uri="{FF2B5EF4-FFF2-40B4-BE49-F238E27FC236}">
              <a16:creationId xmlns:a16="http://schemas.microsoft.com/office/drawing/2014/main" id="{D4F424B7-EA17-3576-C179-8B2A4686B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>
            <a:extLst>
              <a:ext uri="{FF2B5EF4-FFF2-40B4-BE49-F238E27FC236}">
                <a16:creationId xmlns:a16="http://schemas.microsoft.com/office/drawing/2014/main" id="{8AFE9257-51E4-9DDD-E919-EB4153B30F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>
            <a:extLst>
              <a:ext uri="{FF2B5EF4-FFF2-40B4-BE49-F238E27FC236}">
                <a16:creationId xmlns:a16="http://schemas.microsoft.com/office/drawing/2014/main" id="{093A3E7C-B8EB-E532-D405-A68EC98E61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63049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>
          <a:extLst>
            <a:ext uri="{FF2B5EF4-FFF2-40B4-BE49-F238E27FC236}">
              <a16:creationId xmlns:a16="http://schemas.microsoft.com/office/drawing/2014/main" id="{F98DA05F-9651-1B40-8486-F2C1B1F35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>
            <a:extLst>
              <a:ext uri="{FF2B5EF4-FFF2-40B4-BE49-F238E27FC236}">
                <a16:creationId xmlns:a16="http://schemas.microsoft.com/office/drawing/2014/main" id="{6CC1B9DF-A93B-780A-5BA0-5B63553B92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>
            <a:extLst>
              <a:ext uri="{FF2B5EF4-FFF2-40B4-BE49-F238E27FC236}">
                <a16:creationId xmlns:a16="http://schemas.microsoft.com/office/drawing/2014/main" id="{52041485-ECE8-E959-6B52-AAFD19EB16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85253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7098bb5640_0_1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7098bb5640_0_1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581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139150"/>
            <a:ext cx="4404000" cy="25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>
                <a:solidFill>
                  <a:srgbClr val="F3F3F3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585075"/>
            <a:ext cx="33849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  <a:latin typeface="Advent Pro Light"/>
                <a:ea typeface="Advent Pro Light"/>
                <a:cs typeface="Advent Pro Light"/>
                <a:sym typeface="Advent Pr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solidFill>
            <a:srgbClr val="FFFFFF">
              <a:alpha val="4509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AutoNum type="arabicPeriod"/>
              <a:defRPr sz="1300">
                <a:solidFill>
                  <a:srgbClr val="F3F3F3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ítulo 1">
  <p:cSld name="Solo título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>
                <a:solidFill>
                  <a:srgbClr val="F3F3F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subTitle" idx="1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title" idx="2" hasCustomPrompt="1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4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450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C343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9" r:id="rId4"/>
    <p:sldLayoutId id="2147483666" r:id="rId5"/>
    <p:sldLayoutId id="2147483667" r:id="rId6"/>
    <p:sldLayoutId id="2147483670" r:id="rId7"/>
    <p:sldLayoutId id="2147483671" r:id="rId8"/>
    <p:sldLayoutId id="214748367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Alfredo.garcias@tec.m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4"/>
          <p:cNvSpPr txBox="1"/>
          <p:nvPr/>
        </p:nvSpPr>
        <p:spPr>
          <a:xfrm>
            <a:off x="745436" y="839354"/>
            <a:ext cx="8398564" cy="4299318"/>
          </a:xfrm>
          <a:prstGeom prst="rect">
            <a:avLst/>
          </a:prstGeom>
        </p:spPr>
        <p:txBody>
          <a:bodyPr vert="horz" wrap="square" lIns="0" tIns="13399" rIns="0" bIns="0" rtlCol="0">
            <a:spAutoFit/>
          </a:bodyPr>
          <a:lstStyle/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br>
              <a:rPr lang="es-MX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>
              <a:spcBef>
                <a:spcPts val="106"/>
              </a:spcBef>
            </a:pPr>
            <a:r>
              <a:rPr lang="es-ES" sz="1600" b="1" dirty="0">
                <a:solidFill>
                  <a:schemeClr val="bg1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TE3002B</a:t>
            </a:r>
            <a:br>
              <a:rPr lang="es-ES" sz="23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r>
              <a:rPr lang="es-ES" sz="27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Implementación de Robótica Inteligente</a:t>
            </a:r>
          </a:p>
          <a:p>
            <a:pPr marL="14105" marR="5642">
              <a:spcBef>
                <a:spcPts val="106"/>
              </a:spcBef>
            </a:pPr>
            <a:endParaRPr lang="es-ES" sz="2000" b="1" dirty="0">
              <a:solidFill>
                <a:schemeClr val="bg1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                                                                 </a:t>
            </a: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							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15 de Abril del 2026</a:t>
            </a: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MX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28" name="AutoShape 4" descr="Inicio | Título Electrónico Puebl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4340" name="Picture 4" descr="The Learning Gate | Tec de Monterrey"/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cxnSp>
        <p:nvCxnSpPr>
          <p:cNvPr id="11" name="Google Shape;137;p27"/>
          <p:cNvCxnSpPr/>
          <p:nvPr/>
        </p:nvCxnSpPr>
        <p:spPr>
          <a:xfrm>
            <a:off x="599181" y="3300059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   </a:t>
            </a:r>
          </a:p>
          <a:p>
            <a:pPr algn="l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Facilitador: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PhD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 Alfredo García Suárez</a:t>
            </a:r>
          </a:p>
          <a:p>
            <a:pPr algn="l"/>
            <a:br>
              <a:rPr lang="es-ES" dirty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8" name="Google Shape;135;p27"/>
          <p:cNvSpPr txBox="1">
            <a:spLocks noGrp="1"/>
          </p:cNvSpPr>
          <p:nvPr>
            <p:ph type="title"/>
          </p:nvPr>
        </p:nvSpPr>
        <p:spPr>
          <a:xfrm>
            <a:off x="4681549" y="1623442"/>
            <a:ext cx="3200181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Bienvenida</a:t>
            </a:r>
            <a:endParaRPr dirty="0"/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" name="Picture 4" descr="Análisis del papel de la automatización de procesos industriales hoy y  mañana">
            <a:extLst>
              <a:ext uri="{FF2B5EF4-FFF2-40B4-BE49-F238E27FC236}">
                <a16:creationId xmlns:a16="http://schemas.microsoft.com/office/drawing/2014/main" id="{AC008B2B-6883-2457-17DE-D01F4ACEF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65" y="1264349"/>
            <a:ext cx="3931839" cy="281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>
            <a:cxnSpLocks/>
          </p:cNvCxnSpPr>
          <p:nvPr/>
        </p:nvCxnSpPr>
        <p:spPr>
          <a:xfrm>
            <a:off x="4594711" y="1828800"/>
            <a:ext cx="0" cy="18288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4256213" y="1911729"/>
            <a:ext cx="3527821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     </a:t>
            </a:r>
          </a:p>
          <a:p>
            <a:pPr algn="just"/>
            <a:r>
              <a:rPr lang="es-ES" dirty="0"/>
              <a:t>     </a:t>
            </a:r>
            <a:r>
              <a:rPr lang="es-ES" b="1" dirty="0"/>
              <a:t>“La robótica móvil puede definirse como sistemas robóticos que pueden desplazarse en distintos entornos y que cuenta con distintas capacidades que les permiten ejecutar tareas complejas, ya sea de forma autónoma o controlados por un operador humano..”   </a:t>
            </a:r>
          </a:p>
          <a:p>
            <a:pPr algn="l"/>
            <a:r>
              <a:rPr lang="es-ES" dirty="0"/>
              <a:t>       </a:t>
            </a:r>
          </a:p>
          <a:p>
            <a:pPr algn="l"/>
            <a:r>
              <a:rPr lang="es-ES" dirty="0"/>
              <a:t>                                          –</a:t>
            </a:r>
            <a:r>
              <a:rPr lang="es-ES" dirty="0" err="1"/>
              <a:t>Katsuhiko</a:t>
            </a:r>
            <a:r>
              <a:rPr lang="es-ES" dirty="0"/>
              <a:t> Ogata</a:t>
            </a:r>
          </a:p>
          <a:p>
            <a:pPr algn="l"/>
            <a:br>
              <a:rPr lang="es-ES" dirty="0"/>
            </a:br>
            <a:endParaRPr dirty="0"/>
          </a:p>
        </p:txBody>
      </p:sp>
      <p:sp>
        <p:nvSpPr>
          <p:cNvPr id="8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" name="Picture 2" descr="Cinco tendencias esenciales que impulsan el crecimiento de la robótica móvil">
            <a:extLst>
              <a:ext uri="{FF2B5EF4-FFF2-40B4-BE49-F238E27FC236}">
                <a16:creationId xmlns:a16="http://schemas.microsoft.com/office/drawing/2014/main" id="{DFE48314-CCC1-71E9-5268-FDB10F877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706" y="1567133"/>
            <a:ext cx="3985292" cy="2426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Anterior</a:t>
            </a:r>
            <a:endParaRPr sz="4000" dirty="0"/>
          </a:p>
        </p:txBody>
      </p:sp>
      <p:sp>
        <p:nvSpPr>
          <p:cNvPr id="175" name="Google Shape;175;p30"/>
          <p:cNvSpPr txBox="1">
            <a:spLocks noGrp="1"/>
          </p:cNvSpPr>
          <p:nvPr>
            <p:ph type="subTitle" idx="1"/>
          </p:nvPr>
        </p:nvSpPr>
        <p:spPr>
          <a:xfrm>
            <a:off x="4917750" y="3290550"/>
            <a:ext cx="3175216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>
              <a:buSzPts val="1300"/>
            </a:pPr>
            <a:r>
              <a:rPr lang="es-ES" dirty="0"/>
              <a:t>-Pose y Velocidades angulares de las ruedas</a:t>
            </a:r>
          </a:p>
        </p:txBody>
      </p:sp>
      <p:sp>
        <p:nvSpPr>
          <p:cNvPr id="176" name="Google Shape;176;p30"/>
          <p:cNvSpPr txBox="1">
            <a:spLocks noGrp="1"/>
          </p:cNvSpPr>
          <p:nvPr>
            <p:ph type="title" idx="2"/>
          </p:nvPr>
        </p:nvSpPr>
        <p:spPr>
          <a:xfrm>
            <a:off x="4849169" y="1001125"/>
            <a:ext cx="2172953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cxnSp>
        <p:nvCxnSpPr>
          <p:cNvPr id="177" name="Google Shape;177;p30"/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1648536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/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762;p45"/>
              <p:cNvSpPr txBox="1">
                <a:spLocks/>
              </p:cNvSpPr>
              <p:nvPr/>
            </p:nvSpPr>
            <p:spPr>
              <a:xfrm>
                <a:off x="456667" y="1788344"/>
                <a:ext cx="8488039" cy="10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just">
                  <a:buNone/>
                </a:pPr>
                <a:r>
                  <a:rPr lang="es-ES" sz="1800" b="1" dirty="0">
                    <a:solidFill>
                      <a:srgbClr val="FFFF00"/>
                    </a:solidFill>
                  </a:rPr>
                  <a:t>Caso Hipotético</a:t>
                </a:r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: A partir del tópico </a:t>
                </a:r>
                <a:r>
                  <a:rPr lang="es-ES" sz="1800" b="1" dirty="0">
                    <a:solidFill>
                      <a:schemeClr val="tx2"/>
                    </a:solidFill>
                  </a:rPr>
                  <a:t>/</a:t>
                </a:r>
                <a:r>
                  <a:rPr lang="es-ES" sz="1800" b="1" dirty="0" err="1">
                    <a:solidFill>
                      <a:schemeClr val="tx2"/>
                    </a:solidFill>
                  </a:rPr>
                  <a:t>cmd_vel</a:t>
                </a:r>
                <a:r>
                  <a:rPr lang="es-ES" sz="1800" b="1" dirty="0">
                    <a:solidFill>
                      <a:schemeClr val="tx2"/>
                    </a:solidFill>
                  </a:rPr>
                  <a:t> </a:t>
                </a:r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se publican las velocidades lineal </a:t>
                </a:r>
                <a14:m>
                  <m:oMath xmlns:m="http://schemas.openxmlformats.org/officeDocument/2006/math">
                    <m:r>
                      <a:rPr lang="es-ES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s-ES" sz="1800" b="1" dirty="0">
                    <a:solidFill>
                      <a:schemeClr val="tx2"/>
                    </a:solidFill>
                  </a:rPr>
                  <a:t> </a:t>
                </a:r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y angular </a:t>
                </a:r>
                <a14:m>
                  <m:oMath xmlns:m="http://schemas.openxmlformats.org/officeDocument/2006/math">
                    <m:r>
                      <a:rPr lang="es-ES" sz="1800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, las cuales son parámetros de entrada del nodo </a:t>
                </a:r>
                <a:r>
                  <a:rPr lang="es-ES" sz="1800" b="1" dirty="0" err="1">
                    <a:solidFill>
                      <a:schemeClr val="tx2"/>
                    </a:solidFill>
                  </a:rPr>
                  <a:t>Puzzlebot</a:t>
                </a:r>
                <a:r>
                  <a:rPr lang="es-ES" sz="1800" b="1" dirty="0">
                    <a:solidFill>
                      <a:schemeClr val="tx2"/>
                    </a:solidFill>
                  </a:rPr>
                  <a:t> Sim. </a:t>
                </a:r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A la salida del nodo </a:t>
                </a:r>
                <a:r>
                  <a:rPr lang="es-ES" sz="1800" b="1" dirty="0" err="1">
                    <a:solidFill>
                      <a:schemeClr val="tx2"/>
                    </a:solidFill>
                  </a:rPr>
                  <a:t>Puzzlebot</a:t>
                </a:r>
                <a:r>
                  <a:rPr lang="es-ES" sz="1800" b="1" dirty="0">
                    <a:solidFill>
                      <a:schemeClr val="tx2"/>
                    </a:solidFill>
                  </a:rPr>
                  <a:t> Sim</a:t>
                </a:r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 obtenemos la pose y las velocidades angulares de las ruedas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</m:oMath>
                </a14:m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</m:oMath>
                </a14:m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.</a:t>
                </a:r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" name="Google Shape;1762;p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67" y="1788344"/>
                <a:ext cx="8488039" cy="1011400"/>
              </a:xfrm>
              <a:prstGeom prst="rect">
                <a:avLst/>
              </a:prstGeom>
              <a:blipFill>
                <a:blip r:embed="rId4"/>
                <a:stretch>
                  <a:fillRect t="-8434" r="-575" b="-337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36;p27"/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C1C44E94-8FBF-1BD1-40DF-1EBB8741CCEC}"/>
              </a:ext>
            </a:extLst>
          </p:cNvPr>
          <p:cNvSpPr txBox="1">
            <a:spLocks/>
          </p:cNvSpPr>
          <p:nvPr/>
        </p:nvSpPr>
        <p:spPr>
          <a:xfrm>
            <a:off x="530728" y="661197"/>
            <a:ext cx="83211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Localización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basada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movimiento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Pose y Velocidades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angulares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las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ruedas</a:t>
            </a:r>
            <a:endParaRPr lang="en-US" sz="3000" b="1" dirty="0">
              <a:solidFill>
                <a:schemeClr val="bg1">
                  <a:lumMod val="60000"/>
                  <a:lumOff val="40000"/>
                </a:schemeClr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769F786-E39D-B4DE-1287-77D4B2BDC3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178" y="2992474"/>
            <a:ext cx="5351375" cy="18154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BF8F7839-5C22-0B25-3E93-BE83E042F2CC}"/>
                  </a:ext>
                </a:extLst>
              </p:cNvPr>
              <p:cNvSpPr txBox="1"/>
              <p:nvPr/>
            </p:nvSpPr>
            <p:spPr>
              <a:xfrm>
                <a:off x="2347039" y="3161370"/>
                <a:ext cx="8675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</m:oMath>
                  </m:oMathPara>
                </a14:m>
                <a:endParaRPr lang="es-MX" sz="2400" dirty="0">
                  <a:solidFill>
                    <a:schemeClr val="bg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BF8F7839-5C22-0B25-3E93-BE83E042F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039" y="3161370"/>
                <a:ext cx="86750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66D92A3-9257-F9FC-B30F-A0AA3C241AB3}"/>
                  </a:ext>
                </a:extLst>
              </p:cNvPr>
              <p:cNvSpPr txBox="1"/>
              <p:nvPr/>
            </p:nvSpPr>
            <p:spPr>
              <a:xfrm>
                <a:off x="2030516" y="3962878"/>
                <a:ext cx="150055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es-MX" sz="2000" dirty="0">
                  <a:solidFill>
                    <a:schemeClr val="bg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66D92A3-9257-F9FC-B30F-A0AA3C241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516" y="3962878"/>
                <a:ext cx="150055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9901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/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762;p45"/>
          <p:cNvSpPr txBox="1">
            <a:spLocks/>
          </p:cNvSpPr>
          <p:nvPr/>
        </p:nvSpPr>
        <p:spPr>
          <a:xfrm>
            <a:off x="456668" y="1444183"/>
            <a:ext cx="831218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La transformación de interna del nodo se muestra a continuación:</a:t>
            </a:r>
            <a:endParaRPr lang="en-US" sz="1800" b="1" dirty="0">
              <a:solidFill>
                <a:schemeClr val="tx2"/>
              </a:solidFill>
            </a:endParaRPr>
          </a:p>
        </p:txBody>
      </p:sp>
      <p:sp>
        <p:nvSpPr>
          <p:cNvPr id="7" name="Google Shape;136;p27"/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C1C44E94-8FBF-1BD1-40DF-1EBB8741CCEC}"/>
              </a:ext>
            </a:extLst>
          </p:cNvPr>
          <p:cNvSpPr txBox="1">
            <a:spLocks/>
          </p:cNvSpPr>
          <p:nvPr/>
        </p:nvSpPr>
        <p:spPr>
          <a:xfrm>
            <a:off x="530728" y="661196"/>
            <a:ext cx="8531209" cy="101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F3F3F3"/>
              </a:buClr>
              <a:buSzPts val="3000"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Localización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basada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movimiento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</a:p>
          <a:p>
            <a:pPr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Pose y Velocidades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angulares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las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ruedas</a:t>
            </a:r>
            <a:endParaRPr lang="en-US" sz="3000" b="1" dirty="0">
              <a:solidFill>
                <a:schemeClr val="bg1">
                  <a:lumMod val="60000"/>
                  <a:lumOff val="40000"/>
                </a:schemeClr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D24F2383-1FFA-1970-1C39-E64DD9422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6578" y="2077563"/>
            <a:ext cx="5258534" cy="28674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D54AB5B-575E-3AF8-E814-3318B49CE9AF}"/>
                  </a:ext>
                </a:extLst>
              </p:cNvPr>
              <p:cNvSpPr txBox="1"/>
              <p:nvPr/>
            </p:nvSpPr>
            <p:spPr>
              <a:xfrm>
                <a:off x="699945" y="2332831"/>
                <a:ext cx="1808791" cy="882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1800" i="1" u="none" strike="noStrike" baseline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GB" sz="18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sz="1800" b="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GB" sz="18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sz="1800" b="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GB" sz="180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l-GR" sz="18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r>
                  <a:rPr lang="es-ES" sz="1800" i="1" u="none" strike="noStrike" baseline="0" dirty="0">
                    <a:solidFill>
                      <a:schemeClr val="tx2"/>
                    </a:solidFill>
                    <a:latin typeface="CambriaMath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s-ES" sz="1800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es-ES" sz="1800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∗</m:t>
                              </m:r>
                              <m:r>
                                <m:rPr>
                                  <m:nor/>
                                </m:rPr>
                                <a:rPr lang="es-ES" sz="1800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s-ES" sz="1800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(</m:t>
                              </m:r>
                              <m:r>
                                <a:rPr lang="el-GR" sz="1800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m:rPr>
                                  <m:nor/>
                                </m:rPr>
                                <a:rPr lang="es-ES" sz="1800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) 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s-ES" sz="1800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es-ES" sz="1800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∗</m:t>
                              </m:r>
                              <m:r>
                                <m:rPr>
                                  <m:nor/>
                                </m:rPr>
                                <a:rPr lang="es-ES" sz="1800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sen</m:t>
                              </m:r>
                              <m:r>
                                <m:rPr>
                                  <m:nor/>
                                </m:rPr>
                                <a:rPr lang="es-ES" sz="1800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(</m:t>
                              </m:r>
                              <m:r>
                                <a:rPr lang="el-GR" sz="1800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m:rPr>
                                  <m:nor/>
                                </m:rPr>
                                <a:rPr lang="es-ES" sz="1800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s-ES" sz="1800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W</m:t>
                              </m:r>
                              <m:r>
                                <m:rPr>
                                  <m:nor/>
                                </m:rPr>
                                <a:rPr lang="es-ES" sz="1800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ES" sz="1800" i="1" u="none" strike="noStrike" dirty="0">
                    <a:solidFill>
                      <a:schemeClr val="tx2"/>
                    </a:solidFill>
                    <a:latin typeface="CambriaMath"/>
                  </a:rPr>
                  <a:t> </a:t>
                </a:r>
                <a:endParaRPr lang="es-MX" sz="1800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D54AB5B-575E-3AF8-E814-3318B49CE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945" y="2332831"/>
                <a:ext cx="1808791" cy="8828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lecha: a la derecha con bandas 18">
            <a:extLst>
              <a:ext uri="{FF2B5EF4-FFF2-40B4-BE49-F238E27FC236}">
                <a16:creationId xmlns:a16="http://schemas.microsoft.com/office/drawing/2014/main" id="{1F03404A-E406-8713-E4A2-BB214F7E52E6}"/>
              </a:ext>
            </a:extLst>
          </p:cNvPr>
          <p:cNvSpPr/>
          <p:nvPr/>
        </p:nvSpPr>
        <p:spPr>
          <a:xfrm>
            <a:off x="2552063" y="2611751"/>
            <a:ext cx="832338" cy="390949"/>
          </a:xfrm>
          <a:prstGeom prst="striped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E47ED9F8-05F8-E368-CA6E-059AF6FE4CC4}"/>
                  </a:ext>
                </a:extLst>
              </p:cNvPr>
              <p:cNvSpPr txBox="1"/>
              <p:nvPr/>
            </p:nvSpPr>
            <p:spPr>
              <a:xfrm>
                <a:off x="759771" y="3494803"/>
                <a:ext cx="1792293" cy="491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GB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MX" sz="1800" b="1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ES" sz="18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f>
                      <m:fPr>
                        <m:ctrlPr>
                          <a:rPr lang="es-ES" sz="1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8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</m:sub>
                        </m:sSub>
                        <m:r>
                          <a:rPr lang="es-E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+  </m:t>
                        </m:r>
                        <m:sSub>
                          <m:sSubPr>
                            <m:ctrlPr>
                              <a:rPr lang="en-GB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8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</m:sub>
                        </m:sSub>
                      </m:num>
                      <m:den>
                        <m:r>
                          <a:rPr lang="es-E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s-MX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E47ED9F8-05F8-E368-CA6E-059AF6FE4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71" y="3494803"/>
                <a:ext cx="1792293" cy="491096"/>
              </a:xfrm>
              <a:prstGeom prst="rect">
                <a:avLst/>
              </a:prstGeom>
              <a:blipFill>
                <a:blip r:embed="rId6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35CCEC0D-C707-CB47-F10C-5610A50F6244}"/>
                  </a:ext>
                </a:extLst>
              </p:cNvPr>
              <p:cNvSpPr txBox="1"/>
              <p:nvPr/>
            </p:nvSpPr>
            <p:spPr>
              <a:xfrm>
                <a:off x="759770" y="4079118"/>
                <a:ext cx="1792293" cy="5098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GB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MX" sz="1800" b="1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ES" sz="18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f>
                      <m:fPr>
                        <m:ctrlPr>
                          <a:rPr lang="es-ES" sz="1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8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</m:sub>
                        </m:sSub>
                        <m:r>
                          <a:rPr lang="es-E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  </m:t>
                        </m:r>
                        <m:sSub>
                          <m:sSubPr>
                            <m:ctrlPr>
                              <a:rPr lang="en-GB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8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</m:sub>
                        </m:sSub>
                      </m:num>
                      <m:den>
                        <m:r>
                          <a:rPr lang="es-ES" sz="1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</m:den>
                    </m:f>
                  </m:oMath>
                </a14:m>
                <a:endParaRPr lang="es-MX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35CCEC0D-C707-CB47-F10C-5610A50F6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70" y="4079118"/>
                <a:ext cx="1792293" cy="5098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Flecha: a la derecha con bandas 21">
            <a:extLst>
              <a:ext uri="{FF2B5EF4-FFF2-40B4-BE49-F238E27FC236}">
                <a16:creationId xmlns:a16="http://schemas.microsoft.com/office/drawing/2014/main" id="{BDE5F65E-2F53-6DF8-B956-04F3FDB9F26F}"/>
              </a:ext>
            </a:extLst>
          </p:cNvPr>
          <p:cNvSpPr/>
          <p:nvPr/>
        </p:nvSpPr>
        <p:spPr>
          <a:xfrm>
            <a:off x="2598384" y="3790424"/>
            <a:ext cx="832338" cy="390949"/>
          </a:xfrm>
          <a:prstGeom prst="striped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8890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1" y="768707"/>
            <a:ext cx="766351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3.2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(Pose y Velocidades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Angulares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293077" y="1263592"/>
            <a:ext cx="8763167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1.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Crear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carpeta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con 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nombre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Actividad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3.2 (Pose y Velocidades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Angulares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)</a:t>
            </a:r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Implementar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código requerido para graficar la pose y las velocidades angulares de las ruedas que resultan al generar las siguientes trayectorias a partir de las velocidades angulares y lineales en un plano 2D.</a:t>
            </a:r>
            <a:endParaRPr lang="es-E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34B2AA1-1DEE-1741-D753-6356C2B64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269" y="2477351"/>
            <a:ext cx="2324100" cy="231457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65AB2F3-2633-0578-4B9C-7F68E74E94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5753" y="2485399"/>
            <a:ext cx="3565850" cy="233826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71E5094-16D9-34F2-4060-10F7483D825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97" t="2227" r="3281" b="1764"/>
          <a:stretch>
            <a:fillRect/>
          </a:stretch>
        </p:blipFill>
        <p:spPr>
          <a:xfrm>
            <a:off x="6444263" y="2477352"/>
            <a:ext cx="2406660" cy="231457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6D527A6-590E-2A67-DD76-4DB53909FA33}"/>
              </a:ext>
            </a:extLst>
          </p:cNvPr>
          <p:cNvSpPr txBox="1"/>
          <p:nvPr/>
        </p:nvSpPr>
        <p:spPr>
          <a:xfrm>
            <a:off x="1219199" y="4217461"/>
            <a:ext cx="468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5m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C3AAE1B-445F-D5AC-ED4E-DBF4C7640BA1}"/>
              </a:ext>
            </a:extLst>
          </p:cNvPr>
          <p:cNvSpPr txBox="1"/>
          <p:nvPr/>
        </p:nvSpPr>
        <p:spPr>
          <a:xfrm>
            <a:off x="515815" y="3500641"/>
            <a:ext cx="468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5m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779B117-D351-0174-CDB0-AE9368405351}"/>
              </a:ext>
            </a:extLst>
          </p:cNvPr>
          <p:cNvSpPr txBox="1"/>
          <p:nvPr/>
        </p:nvSpPr>
        <p:spPr>
          <a:xfrm>
            <a:off x="3975814" y="3887667"/>
            <a:ext cx="468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1m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A98551-3ED4-B8A9-AE42-DFF0F17DF207}"/>
              </a:ext>
            </a:extLst>
          </p:cNvPr>
          <p:cNvSpPr txBox="1"/>
          <p:nvPr/>
        </p:nvSpPr>
        <p:spPr>
          <a:xfrm>
            <a:off x="4169989" y="3532320"/>
            <a:ext cx="4689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1m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E7F24FB-A772-77EA-338A-68B659F34B18}"/>
              </a:ext>
            </a:extLst>
          </p:cNvPr>
          <p:cNvSpPr txBox="1"/>
          <p:nvPr/>
        </p:nvSpPr>
        <p:spPr>
          <a:xfrm>
            <a:off x="4210275" y="2702641"/>
            <a:ext cx="607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1.5m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6E811D0-C80D-05FC-822C-93407D8A5113}"/>
              </a:ext>
            </a:extLst>
          </p:cNvPr>
          <p:cNvSpPr txBox="1"/>
          <p:nvPr/>
        </p:nvSpPr>
        <p:spPr>
          <a:xfrm>
            <a:off x="4010539" y="4273713"/>
            <a:ext cx="4689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30°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29DFE87-E524-9127-B407-09126793E3B9}"/>
              </a:ext>
            </a:extLst>
          </p:cNvPr>
          <p:cNvSpPr txBox="1"/>
          <p:nvPr/>
        </p:nvSpPr>
        <p:spPr>
          <a:xfrm>
            <a:off x="5022695" y="3526568"/>
            <a:ext cx="6293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150°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3264FFF-B336-36FF-9A67-852BB68ACE68}"/>
              </a:ext>
            </a:extLst>
          </p:cNvPr>
          <p:cNvSpPr txBox="1"/>
          <p:nvPr/>
        </p:nvSpPr>
        <p:spPr>
          <a:xfrm>
            <a:off x="4279767" y="3159083"/>
            <a:ext cx="4689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20°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AB978BC-4A5E-13B1-AA0B-10C2BFC533E0}"/>
              </a:ext>
            </a:extLst>
          </p:cNvPr>
          <p:cNvSpPr txBox="1"/>
          <p:nvPr/>
        </p:nvSpPr>
        <p:spPr>
          <a:xfrm>
            <a:off x="5789864" y="3323385"/>
            <a:ext cx="607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2.2m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96C7BE87-6ECF-8C32-A3B4-DB1E84C20F6C}"/>
              </a:ext>
            </a:extLst>
          </p:cNvPr>
          <p:cNvCxnSpPr/>
          <p:nvPr/>
        </p:nvCxnSpPr>
        <p:spPr>
          <a:xfrm>
            <a:off x="3871998" y="4486808"/>
            <a:ext cx="5275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co 18">
            <a:extLst>
              <a:ext uri="{FF2B5EF4-FFF2-40B4-BE49-F238E27FC236}">
                <a16:creationId xmlns:a16="http://schemas.microsoft.com/office/drawing/2014/main" id="{0BE380FB-ECC3-43F6-5948-7351FAF9416A}"/>
              </a:ext>
            </a:extLst>
          </p:cNvPr>
          <p:cNvSpPr/>
          <p:nvPr/>
        </p:nvSpPr>
        <p:spPr>
          <a:xfrm>
            <a:off x="3975814" y="4371349"/>
            <a:ext cx="45719" cy="231417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01E13AE9-8550-B609-DE02-CC00A03E60B0}"/>
              </a:ext>
            </a:extLst>
          </p:cNvPr>
          <p:cNvCxnSpPr/>
          <p:nvPr/>
        </p:nvCxnSpPr>
        <p:spPr>
          <a:xfrm>
            <a:off x="4992027" y="3810398"/>
            <a:ext cx="5275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rco 20">
            <a:extLst>
              <a:ext uri="{FF2B5EF4-FFF2-40B4-BE49-F238E27FC236}">
                <a16:creationId xmlns:a16="http://schemas.microsoft.com/office/drawing/2014/main" id="{F91A7D24-5286-B94A-5A7D-3137857F5093}"/>
              </a:ext>
            </a:extLst>
          </p:cNvPr>
          <p:cNvSpPr/>
          <p:nvPr/>
        </p:nvSpPr>
        <p:spPr>
          <a:xfrm rot="20929792">
            <a:off x="4575135" y="3705789"/>
            <a:ext cx="617254" cy="376114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9D49C30F-89C5-7E41-EEF3-29412A7C38FC}"/>
              </a:ext>
            </a:extLst>
          </p:cNvPr>
          <p:cNvCxnSpPr/>
          <p:nvPr/>
        </p:nvCxnSpPr>
        <p:spPr>
          <a:xfrm>
            <a:off x="3951925" y="3364229"/>
            <a:ext cx="5275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rco 22">
            <a:extLst>
              <a:ext uri="{FF2B5EF4-FFF2-40B4-BE49-F238E27FC236}">
                <a16:creationId xmlns:a16="http://schemas.microsoft.com/office/drawing/2014/main" id="{2AFB9447-C669-9E6B-42D7-1F146E630E63}"/>
              </a:ext>
            </a:extLst>
          </p:cNvPr>
          <p:cNvSpPr/>
          <p:nvPr/>
        </p:nvSpPr>
        <p:spPr>
          <a:xfrm>
            <a:off x="4162940" y="3245975"/>
            <a:ext cx="45719" cy="231417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394B7F3-D180-7F67-56C4-50EC4E603F97}"/>
              </a:ext>
            </a:extLst>
          </p:cNvPr>
          <p:cNvSpPr txBox="1"/>
          <p:nvPr/>
        </p:nvSpPr>
        <p:spPr>
          <a:xfrm>
            <a:off x="5141943" y="3060223"/>
            <a:ext cx="4362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90°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CBF1C5B4-FA6E-BA49-5C3A-E489032073BF}"/>
              </a:ext>
            </a:extLst>
          </p:cNvPr>
          <p:cNvSpPr txBox="1"/>
          <p:nvPr/>
        </p:nvSpPr>
        <p:spPr>
          <a:xfrm>
            <a:off x="7434122" y="2823663"/>
            <a:ext cx="510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2m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D88A2F7-CCA6-1264-FF6F-4B0741DCD336}"/>
              </a:ext>
            </a:extLst>
          </p:cNvPr>
          <p:cNvSpPr txBox="1"/>
          <p:nvPr/>
        </p:nvSpPr>
        <p:spPr>
          <a:xfrm>
            <a:off x="7991553" y="3197066"/>
            <a:ext cx="636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1.5m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DC5B45F-BD93-446D-2F2C-D5C469E7CF9E}"/>
              </a:ext>
            </a:extLst>
          </p:cNvPr>
          <p:cNvSpPr txBox="1"/>
          <p:nvPr/>
        </p:nvSpPr>
        <p:spPr>
          <a:xfrm>
            <a:off x="7449069" y="3341786"/>
            <a:ext cx="480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2m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266B0D2-3416-D8E0-FC4D-B83273E93728}"/>
              </a:ext>
            </a:extLst>
          </p:cNvPr>
          <p:cNvSpPr txBox="1"/>
          <p:nvPr/>
        </p:nvSpPr>
        <p:spPr>
          <a:xfrm>
            <a:off x="6870237" y="3747125"/>
            <a:ext cx="4803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2m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E73EF5E-1384-5E9F-7259-3CCD4AA94763}"/>
              </a:ext>
            </a:extLst>
          </p:cNvPr>
          <p:cNvSpPr txBox="1"/>
          <p:nvPr/>
        </p:nvSpPr>
        <p:spPr>
          <a:xfrm>
            <a:off x="7442475" y="4250629"/>
            <a:ext cx="636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2.5m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1" y="768707"/>
            <a:ext cx="775729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3.2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(Pose y Velocidades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Angulares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293077" y="1263592"/>
            <a:ext cx="8763167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4.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Generar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reporte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pasos para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poder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obtener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funciones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graficos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trayectorias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parametrizadas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Incluir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Código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MATLAB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5.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Preparar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presentación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análisis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realizado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caso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hipotético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planteado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partir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tópico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/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cmd_vel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nodo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Puzzlebot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Sim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Incluir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entrega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Presentación.pptx.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6. Subir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link del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CANVAS para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</a:p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3998984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Actual</a:t>
            </a:r>
            <a:endParaRPr sz="4000" dirty="0"/>
          </a:p>
        </p:txBody>
      </p:sp>
      <p:sp>
        <p:nvSpPr>
          <p:cNvPr id="175" name="Google Shape;175;p30"/>
          <p:cNvSpPr txBox="1">
            <a:spLocks noGrp="1"/>
          </p:cNvSpPr>
          <p:nvPr>
            <p:ph type="subTitle" idx="1"/>
          </p:nvPr>
        </p:nvSpPr>
        <p:spPr>
          <a:xfrm>
            <a:off x="4917750" y="3290550"/>
            <a:ext cx="407385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>
              <a:buSzPts val="1300"/>
            </a:pPr>
            <a:r>
              <a:rPr lang="es-ES" dirty="0"/>
              <a:t> -Localización basada en Movimiento</a:t>
            </a:r>
          </a:p>
          <a:p>
            <a:pPr marL="146050" lvl="0" indent="0">
              <a:buSzPts val="1300"/>
            </a:pPr>
            <a:r>
              <a:rPr lang="es-ES" dirty="0"/>
              <a:t> -Parametrización en seguimiento de trayectoria</a:t>
            </a:r>
            <a:endParaRPr dirty="0"/>
          </a:p>
        </p:txBody>
      </p:sp>
      <p:sp>
        <p:nvSpPr>
          <p:cNvPr id="176" name="Google Shape;176;p30"/>
          <p:cNvSpPr txBox="1">
            <a:spLocks noGrp="1"/>
          </p:cNvSpPr>
          <p:nvPr>
            <p:ph type="title" idx="2"/>
          </p:nvPr>
        </p:nvSpPr>
        <p:spPr>
          <a:xfrm>
            <a:off x="4849170" y="1001125"/>
            <a:ext cx="2184676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cxnSp>
        <p:nvCxnSpPr>
          <p:cNvPr id="177" name="Google Shape;177;p30"/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256409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>
          <a:extLst>
            <a:ext uri="{FF2B5EF4-FFF2-40B4-BE49-F238E27FC236}">
              <a16:creationId xmlns:a16="http://schemas.microsoft.com/office/drawing/2014/main" id="{C6CBA8EA-3C3F-DF2A-3A23-61CD37CFA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1A31FFCB-3A3A-AAAE-9F3E-CB401584B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>
            <a:extLst>
              <a:ext uri="{FF2B5EF4-FFF2-40B4-BE49-F238E27FC236}">
                <a16:creationId xmlns:a16="http://schemas.microsoft.com/office/drawing/2014/main" id="{03D9108E-F331-0995-8F7D-4BCCCECE0BB3}"/>
              </a:ext>
            </a:extLst>
          </p:cNvPr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762;p45">
                <a:extLst>
                  <a:ext uri="{FF2B5EF4-FFF2-40B4-BE49-F238E27FC236}">
                    <a16:creationId xmlns:a16="http://schemas.microsoft.com/office/drawing/2014/main" id="{D6325499-E943-44D2-1AB3-6589B70402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1841" y="3861264"/>
                <a:ext cx="2178600" cy="4791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" name="Google Shape;1762;p45">
                <a:extLst>
                  <a:ext uri="{FF2B5EF4-FFF2-40B4-BE49-F238E27FC236}">
                    <a16:creationId xmlns:a16="http://schemas.microsoft.com/office/drawing/2014/main" id="{D6325499-E943-44D2-1AB3-6589B7040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841" y="3861264"/>
                <a:ext cx="2178600" cy="479157"/>
              </a:xfrm>
              <a:prstGeom prst="rect">
                <a:avLst/>
              </a:prstGeom>
              <a:blipFill>
                <a:blip r:embed="rId4"/>
                <a:stretch>
                  <a:fillRect b="-139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11329A22-FF0C-76CB-39FA-1E1ECBAF4406}"/>
              </a:ext>
            </a:extLst>
          </p:cNvPr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1644E85A-F3D5-2E17-F7C9-9C5465B44C90}"/>
              </a:ext>
            </a:extLst>
          </p:cNvPr>
          <p:cNvSpPr txBox="1">
            <a:spLocks/>
          </p:cNvSpPr>
          <p:nvPr/>
        </p:nvSpPr>
        <p:spPr>
          <a:xfrm>
            <a:off x="530728" y="661197"/>
            <a:ext cx="83211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Localización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basada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movimiento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Parametrización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seguimiento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trayectorias</a:t>
            </a:r>
            <a:endParaRPr lang="en-US" sz="3000" b="1" dirty="0">
              <a:solidFill>
                <a:schemeClr val="bg1">
                  <a:lumMod val="60000"/>
                  <a:lumOff val="40000"/>
                </a:schemeClr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94A524F-5A7E-25AF-7A63-3590C4D22A87}"/>
                  </a:ext>
                </a:extLst>
              </p:cNvPr>
              <p:cNvSpPr txBox="1"/>
              <p:nvPr/>
            </p:nvSpPr>
            <p:spPr>
              <a:xfrm>
                <a:off x="-334058" y="3485712"/>
                <a:ext cx="3877149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4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</m:d>
                    </m:oMath>
                  </m:oMathPara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94A524F-5A7E-25AF-7A63-3590C4D22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4058" y="3485712"/>
                <a:ext cx="3877149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n 16">
            <a:extLst>
              <a:ext uri="{FF2B5EF4-FFF2-40B4-BE49-F238E27FC236}">
                <a16:creationId xmlns:a16="http://schemas.microsoft.com/office/drawing/2014/main" id="{2A4210C9-BAC6-E1B8-47DC-4DBE46ACE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0624" y="1989331"/>
            <a:ext cx="3911271" cy="2933453"/>
          </a:xfrm>
          <a:prstGeom prst="rect">
            <a:avLst/>
          </a:prstGeom>
        </p:spPr>
      </p:pic>
      <p:sp>
        <p:nvSpPr>
          <p:cNvPr id="18" name="Google Shape;1762;p45">
            <a:extLst>
              <a:ext uri="{FF2B5EF4-FFF2-40B4-BE49-F238E27FC236}">
                <a16:creationId xmlns:a16="http://schemas.microsoft.com/office/drawing/2014/main" id="{3285C779-AC69-9D20-E6EF-014D8DFF0528}"/>
              </a:ext>
            </a:extLst>
          </p:cNvPr>
          <p:cNvSpPr txBox="1">
            <a:spLocks/>
          </p:cNvSpPr>
          <p:nvPr/>
        </p:nvSpPr>
        <p:spPr>
          <a:xfrm>
            <a:off x="456668" y="2016783"/>
            <a:ext cx="4115332" cy="1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b="1" dirty="0">
                <a:solidFill>
                  <a:schemeClr val="tx2"/>
                </a:solidFill>
              </a:rPr>
              <a:t>Paso 1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: </a:t>
            </a:r>
            <a:r>
              <a:rPr lang="es-MX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Definimos la función de la trayectoria que deseamos parametrizar, así como su grafico en el espacio temporal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.</a:t>
            </a:r>
            <a:endParaRPr lang="en-US" sz="1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989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>
          <a:extLst>
            <a:ext uri="{FF2B5EF4-FFF2-40B4-BE49-F238E27FC236}">
              <a16:creationId xmlns:a16="http://schemas.microsoft.com/office/drawing/2014/main" id="{3195E856-7E2D-0772-3BF6-75172A761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9D488DE8-C5FB-16F1-7412-8113D42AF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>
            <a:extLst>
              <a:ext uri="{FF2B5EF4-FFF2-40B4-BE49-F238E27FC236}">
                <a16:creationId xmlns:a16="http://schemas.microsoft.com/office/drawing/2014/main" id="{044C6288-099A-86BC-7E1B-EDF321B222AE}"/>
              </a:ext>
            </a:extLst>
          </p:cNvPr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762;p45">
                <a:extLst>
                  <a:ext uri="{FF2B5EF4-FFF2-40B4-BE49-F238E27FC236}">
                    <a16:creationId xmlns:a16="http://schemas.microsoft.com/office/drawing/2014/main" id="{53CCE120-3C92-C764-D1EE-2069F2918C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9008" y="3861264"/>
                <a:ext cx="2310990" cy="4791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" name="Google Shape;1762;p45">
                <a:extLst>
                  <a:ext uri="{FF2B5EF4-FFF2-40B4-BE49-F238E27FC236}">
                    <a16:creationId xmlns:a16="http://schemas.microsoft.com/office/drawing/2014/main" id="{53CCE120-3C92-C764-D1EE-2069F2918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08" y="3861264"/>
                <a:ext cx="2310990" cy="479157"/>
              </a:xfrm>
              <a:prstGeom prst="rect">
                <a:avLst/>
              </a:prstGeom>
              <a:blipFill>
                <a:blip r:embed="rId4"/>
                <a:stretch>
                  <a:fillRect b="-189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7497E5CF-DFAB-FB62-557B-695C9E5D396B}"/>
              </a:ext>
            </a:extLst>
          </p:cNvPr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F0763196-C58E-2DEB-8B70-FF424E4D38DE}"/>
              </a:ext>
            </a:extLst>
          </p:cNvPr>
          <p:cNvSpPr txBox="1">
            <a:spLocks/>
          </p:cNvSpPr>
          <p:nvPr/>
        </p:nvSpPr>
        <p:spPr>
          <a:xfrm>
            <a:off x="530728" y="661197"/>
            <a:ext cx="83211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Localización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basada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movimiento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Parametrización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seguimiento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trayectorias</a:t>
            </a:r>
            <a:endParaRPr lang="en-US" sz="3000" b="1" dirty="0">
              <a:solidFill>
                <a:schemeClr val="bg1">
                  <a:lumMod val="60000"/>
                  <a:lumOff val="40000"/>
                </a:schemeClr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6EBEB74-1CD3-49EB-8D10-40E2CDB4F7AE}"/>
                  </a:ext>
                </a:extLst>
              </p:cNvPr>
              <p:cNvSpPr txBox="1"/>
              <p:nvPr/>
            </p:nvSpPr>
            <p:spPr>
              <a:xfrm>
                <a:off x="-334058" y="3485712"/>
                <a:ext cx="3877149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4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6EBEB74-1CD3-49EB-8D10-40E2CDB4F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4058" y="3485712"/>
                <a:ext cx="3877149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n 16">
            <a:extLst>
              <a:ext uri="{FF2B5EF4-FFF2-40B4-BE49-F238E27FC236}">
                <a16:creationId xmlns:a16="http://schemas.microsoft.com/office/drawing/2014/main" id="{75DBE8B8-FF75-261B-A16E-8C3708F77A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0624" y="1989331"/>
            <a:ext cx="3911271" cy="2933453"/>
          </a:xfrm>
          <a:prstGeom prst="rect">
            <a:avLst/>
          </a:prstGeom>
        </p:spPr>
      </p:pic>
      <p:sp>
        <p:nvSpPr>
          <p:cNvPr id="18" name="Google Shape;1762;p45">
            <a:extLst>
              <a:ext uri="{FF2B5EF4-FFF2-40B4-BE49-F238E27FC236}">
                <a16:creationId xmlns:a16="http://schemas.microsoft.com/office/drawing/2014/main" id="{85AC701A-8F53-A8C9-50CE-4C717407D52C}"/>
              </a:ext>
            </a:extLst>
          </p:cNvPr>
          <p:cNvSpPr txBox="1">
            <a:spLocks/>
          </p:cNvSpPr>
          <p:nvPr/>
        </p:nvSpPr>
        <p:spPr>
          <a:xfrm>
            <a:off x="456668" y="2016783"/>
            <a:ext cx="4115332" cy="1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b="1" dirty="0">
                <a:solidFill>
                  <a:schemeClr val="tx2"/>
                </a:solidFill>
              </a:rPr>
              <a:t>Paso 2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: </a:t>
            </a:r>
            <a:r>
              <a:rPr lang="es-MX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Realizamos la parametrización de las funciones respecto al tiempo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.</a:t>
            </a:r>
            <a:endParaRPr lang="en-US" sz="1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321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>
          <a:extLst>
            <a:ext uri="{FF2B5EF4-FFF2-40B4-BE49-F238E27FC236}">
              <a16:creationId xmlns:a16="http://schemas.microsoft.com/office/drawing/2014/main" id="{6D9EF5C6-E42B-7B47-2E07-0A37FB306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D99C2A68-BE11-EB69-505B-D5BD53C6D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>
            <a:extLst>
              <a:ext uri="{FF2B5EF4-FFF2-40B4-BE49-F238E27FC236}">
                <a16:creationId xmlns:a16="http://schemas.microsoft.com/office/drawing/2014/main" id="{519BF4F8-EF67-7BAA-7215-BAEB2541C704}"/>
              </a:ext>
            </a:extLst>
          </p:cNvPr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762;p45">
                <a:extLst>
                  <a:ext uri="{FF2B5EF4-FFF2-40B4-BE49-F238E27FC236}">
                    <a16:creationId xmlns:a16="http://schemas.microsoft.com/office/drawing/2014/main" id="{3ECEF021-9176-20E2-CBC3-063B146B0A9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1866" y="3828892"/>
                <a:ext cx="2413454" cy="4791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p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" name="Google Shape;1762;p45">
                <a:extLst>
                  <a:ext uri="{FF2B5EF4-FFF2-40B4-BE49-F238E27FC236}">
                    <a16:creationId xmlns:a16="http://schemas.microsoft.com/office/drawing/2014/main" id="{3ECEF021-9176-20E2-CBC3-063B146B0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66" y="3828892"/>
                <a:ext cx="2413454" cy="479157"/>
              </a:xfrm>
              <a:prstGeom prst="rect">
                <a:avLst/>
              </a:prstGeom>
              <a:blipFill>
                <a:blip r:embed="rId4"/>
                <a:stretch>
                  <a:fillRect b="-189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0ACEBEA2-7C2B-744E-D51C-C12476416B65}"/>
              </a:ext>
            </a:extLst>
          </p:cNvPr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131A1FF8-EDA9-E43A-9358-B5DCF25DE20F}"/>
              </a:ext>
            </a:extLst>
          </p:cNvPr>
          <p:cNvSpPr txBox="1">
            <a:spLocks/>
          </p:cNvSpPr>
          <p:nvPr/>
        </p:nvSpPr>
        <p:spPr>
          <a:xfrm>
            <a:off x="530728" y="661197"/>
            <a:ext cx="83211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Localización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basada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movimiento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Parametrización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seguimiento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trayectorias</a:t>
            </a:r>
            <a:endParaRPr lang="en-US" sz="3000" b="1" dirty="0">
              <a:solidFill>
                <a:schemeClr val="bg1">
                  <a:lumMod val="60000"/>
                  <a:lumOff val="40000"/>
                </a:schemeClr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8382F57-8516-1C1C-1CC1-9EFA8E14966C}"/>
                  </a:ext>
                </a:extLst>
              </p:cNvPr>
              <p:cNvSpPr txBox="1"/>
              <p:nvPr/>
            </p:nvSpPr>
            <p:spPr>
              <a:xfrm>
                <a:off x="-334058" y="3485712"/>
                <a:ext cx="387714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4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d>
                        <m:dPr>
                          <m:ctrlP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8382F57-8516-1C1C-1CC1-9EFA8E149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4058" y="3485712"/>
                <a:ext cx="387714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n 16">
            <a:extLst>
              <a:ext uri="{FF2B5EF4-FFF2-40B4-BE49-F238E27FC236}">
                <a16:creationId xmlns:a16="http://schemas.microsoft.com/office/drawing/2014/main" id="{AA030409-E0C1-87B1-64AD-FB2ED48903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0624" y="1989331"/>
            <a:ext cx="3911271" cy="2933453"/>
          </a:xfrm>
          <a:prstGeom prst="rect">
            <a:avLst/>
          </a:prstGeom>
        </p:spPr>
      </p:pic>
      <p:sp>
        <p:nvSpPr>
          <p:cNvPr id="18" name="Google Shape;1762;p45">
            <a:extLst>
              <a:ext uri="{FF2B5EF4-FFF2-40B4-BE49-F238E27FC236}">
                <a16:creationId xmlns:a16="http://schemas.microsoft.com/office/drawing/2014/main" id="{4101FE56-42D0-A9E1-1C5A-4E05D2625B24}"/>
              </a:ext>
            </a:extLst>
          </p:cNvPr>
          <p:cNvSpPr txBox="1">
            <a:spLocks/>
          </p:cNvSpPr>
          <p:nvPr/>
        </p:nvSpPr>
        <p:spPr>
          <a:xfrm>
            <a:off x="456668" y="1989331"/>
            <a:ext cx="4115332" cy="1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b="1" dirty="0">
                <a:solidFill>
                  <a:schemeClr val="tx2"/>
                </a:solidFill>
              </a:rPr>
              <a:t>Paso 3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: </a:t>
            </a:r>
            <a:r>
              <a:rPr lang="es-MX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Calculamos las derivadas de las funciones para obtener las velocidades en cada eje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.</a:t>
            </a:r>
            <a:endParaRPr lang="en-US" sz="1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7798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>
          <a:extLst>
            <a:ext uri="{FF2B5EF4-FFF2-40B4-BE49-F238E27FC236}">
              <a16:creationId xmlns:a16="http://schemas.microsoft.com/office/drawing/2014/main" id="{7BBF2D18-1C7A-B016-2460-F4884BD27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9F3F52C0-BF0B-6254-5182-B1F33D642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>
            <a:extLst>
              <a:ext uri="{FF2B5EF4-FFF2-40B4-BE49-F238E27FC236}">
                <a16:creationId xmlns:a16="http://schemas.microsoft.com/office/drawing/2014/main" id="{38229614-2BCC-C61E-DF25-12EACD414F32}"/>
              </a:ext>
            </a:extLst>
          </p:cNvPr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762;p45">
                <a:extLst>
                  <a:ext uri="{FF2B5EF4-FFF2-40B4-BE49-F238E27FC236}">
                    <a16:creationId xmlns:a16="http://schemas.microsoft.com/office/drawing/2014/main" id="{75337BD5-E4D5-A943-CD74-BB102F6FA0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3788" y="3756165"/>
                <a:ext cx="2883128" cy="4791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d>
                        <m:dPr>
                          <m:ctrlPr>
                            <a:rPr lang="es-MX" sz="18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s-MX" sz="1800" b="1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MX" sz="18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MX" sz="18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MX" sz="1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MX" sz="1800" b="1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b="1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sSup>
                                    <m:sSupPr>
                                      <m:ctrlPr>
                                        <a:rPr lang="es-MX" sz="1800" b="1" i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MX" sz="1800" b="1" i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e>
                                    <m:sup>
                                      <m:r>
                                        <a:rPr lang="es-MX" sz="1800" b="1" i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s-MX" sz="1800" b="1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s-MX" sz="1800" b="1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e>
                            <m:sup>
                              <m:r>
                                <a:rPr lang="es-MX" sz="1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" name="Google Shape;1762;p45">
                <a:extLst>
                  <a:ext uri="{FF2B5EF4-FFF2-40B4-BE49-F238E27FC236}">
                    <a16:creationId xmlns:a16="http://schemas.microsoft.com/office/drawing/2014/main" id="{75337BD5-E4D5-A943-CD74-BB102F6FA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88" y="3756165"/>
                <a:ext cx="2883128" cy="479157"/>
              </a:xfrm>
              <a:prstGeom prst="rect">
                <a:avLst/>
              </a:prstGeom>
              <a:blipFill>
                <a:blip r:embed="rId4"/>
                <a:stretch>
                  <a:fillRect b="-12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3B4596B6-359A-E243-E88A-8DAE93DF7ED9}"/>
              </a:ext>
            </a:extLst>
          </p:cNvPr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7F239460-8895-2612-F27D-310BE13D4135}"/>
              </a:ext>
            </a:extLst>
          </p:cNvPr>
          <p:cNvSpPr txBox="1">
            <a:spLocks/>
          </p:cNvSpPr>
          <p:nvPr/>
        </p:nvSpPr>
        <p:spPr>
          <a:xfrm>
            <a:off x="530728" y="661197"/>
            <a:ext cx="83211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Localización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basada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movimiento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Parametrización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seguimiento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trayectorias</a:t>
            </a:r>
            <a:endParaRPr lang="en-US" sz="3000" b="1" dirty="0">
              <a:solidFill>
                <a:schemeClr val="bg1">
                  <a:lumMod val="60000"/>
                  <a:lumOff val="40000"/>
                </a:schemeClr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7F8C49C-4A5D-34DB-970B-186AF95F7217}"/>
                  </a:ext>
                </a:extLst>
              </p:cNvPr>
              <p:cNvSpPr txBox="1"/>
              <p:nvPr/>
            </p:nvSpPr>
            <p:spPr>
              <a:xfrm>
                <a:off x="21602" y="3138130"/>
                <a:ext cx="3877149" cy="429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4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d>
                        <m:dPr>
                          <m:ctrlP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MX" sz="1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̇"/>
                                  <m:ctrlPr>
                                    <a:rPr lang="es-MX" sz="1800" b="1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MX" sz="1800" b="1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  <m:sup>
                              <m:r>
                                <a:rPr lang="es-MX" sz="1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MX" sz="1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̇"/>
                                  <m:ctrlPr>
                                    <a:rPr lang="es-MX" sz="1800" b="1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MX" sz="1800" b="1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  <m:sup>
                              <m:r>
                                <a:rPr lang="es-MX" sz="1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7F8C49C-4A5D-34DB-970B-186AF95F7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2" y="3138130"/>
                <a:ext cx="3877149" cy="429220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n 16">
            <a:extLst>
              <a:ext uri="{FF2B5EF4-FFF2-40B4-BE49-F238E27FC236}">
                <a16:creationId xmlns:a16="http://schemas.microsoft.com/office/drawing/2014/main" id="{397F3377-175E-2E8A-B1C4-2283E91D50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0624" y="1989331"/>
            <a:ext cx="3911271" cy="2933453"/>
          </a:xfrm>
          <a:prstGeom prst="rect">
            <a:avLst/>
          </a:prstGeom>
        </p:spPr>
      </p:pic>
      <p:sp>
        <p:nvSpPr>
          <p:cNvPr id="18" name="Google Shape;1762;p45">
            <a:extLst>
              <a:ext uri="{FF2B5EF4-FFF2-40B4-BE49-F238E27FC236}">
                <a16:creationId xmlns:a16="http://schemas.microsoft.com/office/drawing/2014/main" id="{B2A6567D-E511-389E-66E1-8D92DDDF7A27}"/>
              </a:ext>
            </a:extLst>
          </p:cNvPr>
          <p:cNvSpPr txBox="1">
            <a:spLocks/>
          </p:cNvSpPr>
          <p:nvPr/>
        </p:nvSpPr>
        <p:spPr>
          <a:xfrm>
            <a:off x="456668" y="1989331"/>
            <a:ext cx="4115332" cy="1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b="1" dirty="0">
                <a:solidFill>
                  <a:schemeClr val="tx2"/>
                </a:solidFill>
              </a:rPr>
              <a:t>Paso 4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: </a:t>
            </a:r>
            <a:r>
              <a:rPr lang="es-MX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Obtenemos la expresión matemática para la velocidad lineal </a:t>
            </a:r>
            <a:r>
              <a:rPr lang="es-MX" sz="1800" b="1" dirty="0">
                <a:solidFill>
                  <a:schemeClr val="tx2"/>
                </a:solidFill>
              </a:rPr>
              <a:t>u(t)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.</a:t>
            </a:r>
            <a:endParaRPr lang="en-US" sz="1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151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>
          <a:extLst>
            <a:ext uri="{FF2B5EF4-FFF2-40B4-BE49-F238E27FC236}">
              <a16:creationId xmlns:a16="http://schemas.microsoft.com/office/drawing/2014/main" id="{B1E1B12F-17F7-8FBE-7132-FE89D809F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7775A0AD-0B17-E2DD-3456-97F079344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>
            <a:extLst>
              <a:ext uri="{FF2B5EF4-FFF2-40B4-BE49-F238E27FC236}">
                <a16:creationId xmlns:a16="http://schemas.microsoft.com/office/drawing/2014/main" id="{D71301B8-3B54-6E8D-EBAC-8D92E2E0211F}"/>
              </a:ext>
            </a:extLst>
          </p:cNvPr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0FF6D769-F2EC-A033-6A7D-B9F98A234032}"/>
              </a:ext>
            </a:extLst>
          </p:cNvPr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2EC9076C-F935-CE08-67B9-35A023ADC73E}"/>
              </a:ext>
            </a:extLst>
          </p:cNvPr>
          <p:cNvSpPr txBox="1">
            <a:spLocks/>
          </p:cNvSpPr>
          <p:nvPr/>
        </p:nvSpPr>
        <p:spPr>
          <a:xfrm>
            <a:off x="530728" y="661197"/>
            <a:ext cx="83211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Localización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basada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movimiento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Parametrización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seguimiento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trayectorias</a:t>
            </a:r>
            <a:endParaRPr lang="en-US" sz="3000" b="1" dirty="0">
              <a:solidFill>
                <a:schemeClr val="bg1">
                  <a:lumMod val="60000"/>
                  <a:lumOff val="40000"/>
                </a:schemeClr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E1CD453-0DE6-661C-7AB5-0D44FE3786FA}"/>
                  </a:ext>
                </a:extLst>
              </p:cNvPr>
              <p:cNvSpPr txBox="1"/>
              <p:nvPr/>
            </p:nvSpPr>
            <p:spPr>
              <a:xfrm>
                <a:off x="879163" y="3197824"/>
                <a:ext cx="2450191" cy="506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400" indent="0" algn="just">
                  <a:buNone/>
                </a:pPr>
                <a:r>
                  <a:rPr lang="el-GR" sz="1800" b="1" dirty="0">
                    <a:solidFill>
                      <a:srgbClr val="FFFF00"/>
                    </a:solidFill>
                  </a:rPr>
                  <a:t>θ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s-MX" sz="1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𝒂𝒏</m:t>
                        </m:r>
                      </m:e>
                      <m:sup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d>
                      <m:d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̇"/>
                                <m:ctrlP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num>
                          <m:den>
                            <m:acc>
                              <m:accPr>
                                <m:chr m:val="̇"/>
                                <m:ctrlP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MX" sz="1800" b="1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</m:den>
                        </m:f>
                      </m:e>
                    </m:d>
                  </m:oMath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E1CD453-0DE6-661C-7AB5-0D44FE378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63" y="3197824"/>
                <a:ext cx="2450191" cy="506870"/>
              </a:xfrm>
              <a:prstGeom prst="rect">
                <a:avLst/>
              </a:prstGeom>
              <a:blipFill>
                <a:blip r:embed="rId4"/>
                <a:stretch>
                  <a:fillRect b="-481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n 16">
            <a:extLst>
              <a:ext uri="{FF2B5EF4-FFF2-40B4-BE49-F238E27FC236}">
                <a16:creationId xmlns:a16="http://schemas.microsoft.com/office/drawing/2014/main" id="{E5D58244-3C3B-FD1E-66CA-47901CC063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0624" y="1989331"/>
            <a:ext cx="3911271" cy="2933453"/>
          </a:xfrm>
          <a:prstGeom prst="rect">
            <a:avLst/>
          </a:prstGeom>
        </p:spPr>
      </p:pic>
      <p:sp>
        <p:nvSpPr>
          <p:cNvPr id="18" name="Google Shape;1762;p45">
            <a:extLst>
              <a:ext uri="{FF2B5EF4-FFF2-40B4-BE49-F238E27FC236}">
                <a16:creationId xmlns:a16="http://schemas.microsoft.com/office/drawing/2014/main" id="{3BA8C971-4C02-D419-6036-F885684A8CF6}"/>
              </a:ext>
            </a:extLst>
          </p:cNvPr>
          <p:cNvSpPr txBox="1">
            <a:spLocks/>
          </p:cNvSpPr>
          <p:nvPr/>
        </p:nvSpPr>
        <p:spPr>
          <a:xfrm>
            <a:off x="456668" y="1989331"/>
            <a:ext cx="4115332" cy="1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b="1" dirty="0">
                <a:solidFill>
                  <a:schemeClr val="tx2"/>
                </a:solidFill>
              </a:rPr>
              <a:t>Paso 5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: </a:t>
            </a:r>
            <a:r>
              <a:rPr lang="es-MX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Calculamos la expresión del ángulo de orientación </a:t>
            </a:r>
            <a:r>
              <a:rPr lang="es-MX" sz="1800" b="1" dirty="0">
                <a:solidFill>
                  <a:schemeClr val="tx2"/>
                </a:solidFill>
              </a:rPr>
              <a:t>θ(t)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.</a:t>
            </a:r>
            <a:endParaRPr lang="en-US" sz="1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373353B-66B3-C467-702C-C566DA80A0CB}"/>
                  </a:ext>
                </a:extLst>
              </p:cNvPr>
              <p:cNvSpPr txBox="1"/>
              <p:nvPr/>
            </p:nvSpPr>
            <p:spPr>
              <a:xfrm>
                <a:off x="879163" y="3922974"/>
                <a:ext cx="2450191" cy="5407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400" indent="0" algn="just">
                  <a:buNone/>
                </a:pPr>
                <a:r>
                  <a:rPr lang="el-GR" sz="1800" b="1" dirty="0">
                    <a:solidFill>
                      <a:srgbClr val="FFFF00"/>
                    </a:solidFill>
                  </a:rPr>
                  <a:t>θ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s-MX" sz="1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𝒂𝒏</m:t>
                        </m:r>
                      </m:e>
                      <m:sup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d>
                      <m:d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sSup>
                              <m:sSupPr>
                                <m:ctrlP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  <m:sup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num>
                          <m:den>
                            <m: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den>
                        </m:f>
                      </m:e>
                    </m:d>
                  </m:oMath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373353B-66B3-C467-702C-C566DA80A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163" y="3922974"/>
                <a:ext cx="2450191" cy="540725"/>
              </a:xfrm>
              <a:prstGeom prst="rect">
                <a:avLst/>
              </a:prstGeom>
              <a:blipFill>
                <a:blip r:embed="rId6"/>
                <a:stretch>
                  <a:fillRect b="-568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4230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>
          <a:extLst>
            <a:ext uri="{FF2B5EF4-FFF2-40B4-BE49-F238E27FC236}">
              <a16:creationId xmlns:a16="http://schemas.microsoft.com/office/drawing/2014/main" id="{72C09BD3-82C5-79A2-4F1B-68E54DB67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D1021797-6B52-F04D-90F4-5E0D5C424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>
            <a:extLst>
              <a:ext uri="{FF2B5EF4-FFF2-40B4-BE49-F238E27FC236}">
                <a16:creationId xmlns:a16="http://schemas.microsoft.com/office/drawing/2014/main" id="{03029225-AEB7-20EE-9F16-AA0F1044F751}"/>
              </a:ext>
            </a:extLst>
          </p:cNvPr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467052C4-6560-2523-9F43-8220F1C4E414}"/>
              </a:ext>
            </a:extLst>
          </p:cNvPr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C736CEDD-3906-606D-9BDE-D99A027F0C12}"/>
              </a:ext>
            </a:extLst>
          </p:cNvPr>
          <p:cNvSpPr txBox="1">
            <a:spLocks/>
          </p:cNvSpPr>
          <p:nvPr/>
        </p:nvSpPr>
        <p:spPr>
          <a:xfrm>
            <a:off x="530728" y="661197"/>
            <a:ext cx="83211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Localización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basada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movimiento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Parametrización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seguimiento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trayectorias</a:t>
            </a:r>
            <a:endParaRPr lang="en-US" sz="3000" b="1" dirty="0">
              <a:solidFill>
                <a:schemeClr val="bg1">
                  <a:lumMod val="60000"/>
                  <a:lumOff val="40000"/>
                </a:schemeClr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D905E54-5648-FD67-6980-4BB56A58D63D}"/>
                  </a:ext>
                </a:extLst>
              </p:cNvPr>
              <p:cNvSpPr txBox="1"/>
              <p:nvPr/>
            </p:nvSpPr>
            <p:spPr>
              <a:xfrm>
                <a:off x="530728" y="2775137"/>
                <a:ext cx="2450191" cy="506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400" indent="0" algn="just">
                  <a:buNone/>
                </a:pPr>
                <a:r>
                  <a:rPr lang="el-GR" sz="1800" b="1" dirty="0">
                    <a:solidFill>
                      <a:srgbClr val="FFFF00"/>
                    </a:solidFill>
                  </a:rPr>
                  <a:t>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s-MX" sz="1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  <m:r>
                              <m:rPr>
                                <m:sty m:val="p"/>
                              </m:rPr>
                              <a:rPr lang="el-GR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𝒅𝒕</m:t>
                            </m:r>
                          </m:den>
                        </m:f>
                      </m:e>
                    </m:d>
                  </m:oMath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D905E54-5648-FD67-6980-4BB56A58D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28" y="2775137"/>
                <a:ext cx="2450191" cy="506870"/>
              </a:xfrm>
              <a:prstGeom prst="rect">
                <a:avLst/>
              </a:prstGeom>
              <a:blipFill>
                <a:blip r:embed="rId4"/>
                <a:stretch>
                  <a:fillRect b="-481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n 16">
            <a:extLst>
              <a:ext uri="{FF2B5EF4-FFF2-40B4-BE49-F238E27FC236}">
                <a16:creationId xmlns:a16="http://schemas.microsoft.com/office/drawing/2014/main" id="{9F747542-E7F6-1425-E3CF-6D2726A515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4685" y="1989331"/>
            <a:ext cx="3911271" cy="2933453"/>
          </a:xfrm>
          <a:prstGeom prst="rect">
            <a:avLst/>
          </a:prstGeom>
        </p:spPr>
      </p:pic>
      <p:sp>
        <p:nvSpPr>
          <p:cNvPr id="18" name="Google Shape;1762;p45">
            <a:extLst>
              <a:ext uri="{FF2B5EF4-FFF2-40B4-BE49-F238E27FC236}">
                <a16:creationId xmlns:a16="http://schemas.microsoft.com/office/drawing/2014/main" id="{06E08051-066D-12B4-D88A-162795D84A4C}"/>
              </a:ext>
            </a:extLst>
          </p:cNvPr>
          <p:cNvSpPr txBox="1">
            <a:spLocks/>
          </p:cNvSpPr>
          <p:nvPr/>
        </p:nvSpPr>
        <p:spPr>
          <a:xfrm>
            <a:off x="456667" y="1568240"/>
            <a:ext cx="4302899" cy="1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b="1" dirty="0">
                <a:solidFill>
                  <a:schemeClr val="tx2"/>
                </a:solidFill>
              </a:rPr>
              <a:t>Paso 6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: </a:t>
            </a:r>
            <a:r>
              <a:rPr lang="es-MX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Obtenemos la expresión matemática para la velocidad angular </a:t>
            </a:r>
            <a:r>
              <a:rPr lang="es-MX" sz="1800" b="1" dirty="0">
                <a:solidFill>
                  <a:schemeClr val="tx2"/>
                </a:solidFill>
              </a:rPr>
              <a:t>ω(t)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.</a:t>
            </a:r>
            <a:endParaRPr lang="en-US" sz="1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EE1A303-A322-5392-EFA8-4FD81F6A6BE7}"/>
                  </a:ext>
                </a:extLst>
              </p:cNvPr>
              <p:cNvSpPr txBox="1"/>
              <p:nvPr/>
            </p:nvSpPr>
            <p:spPr>
              <a:xfrm>
                <a:off x="2354719" y="2520388"/>
                <a:ext cx="3161516" cy="7616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400" indent="0" algn="just">
                  <a:buNone/>
                </a:pPr>
                <a:r>
                  <a:rPr lang="el-GR" sz="1800" b="1" dirty="0">
                    <a:solidFill>
                      <a:srgbClr val="FFFF00"/>
                    </a:solidFill>
                  </a:rPr>
                  <a:t>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s-MX" sz="1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d>
                          <m:dPr>
                            <m:ctrlP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𝒕𝒂𝒏</m:t>
                                </m:r>
                              </m:e>
                              <m:sup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sSup>
                                      <m:sSupPr>
                                        <m:ctrlPr>
                                          <a:rPr lang="es-MX" sz="1800" b="1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MX" sz="1800" b="1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e>
                                      <m:sup>
                                        <m:r>
                                          <a:rPr lang="es-MX" sz="1800" b="1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num>
                      <m:den>
                        <m: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</m:oMath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EE1A303-A322-5392-EFA8-4FD81F6A6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719" y="2520388"/>
                <a:ext cx="3161516" cy="761619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1762;p45">
            <a:extLst>
              <a:ext uri="{FF2B5EF4-FFF2-40B4-BE49-F238E27FC236}">
                <a16:creationId xmlns:a16="http://schemas.microsoft.com/office/drawing/2014/main" id="{DD07AEA8-59BB-6BFD-D4D9-33C18D6EA806}"/>
              </a:ext>
            </a:extLst>
          </p:cNvPr>
          <p:cNvSpPr txBox="1">
            <a:spLocks/>
          </p:cNvSpPr>
          <p:nvPr/>
        </p:nvSpPr>
        <p:spPr>
          <a:xfrm>
            <a:off x="463559" y="3117534"/>
            <a:ext cx="2282810" cy="56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MX" sz="1800" b="1" dirty="0">
                <a:solidFill>
                  <a:schemeClr val="tx2"/>
                </a:solidFill>
              </a:rPr>
              <a:t>Regla: </a:t>
            </a:r>
            <a:endParaRPr lang="en-US" sz="1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EA353FB-7997-89DA-BC53-0349FDC7F99E}"/>
                  </a:ext>
                </a:extLst>
              </p:cNvPr>
              <p:cNvSpPr txBox="1"/>
              <p:nvPr/>
            </p:nvSpPr>
            <p:spPr>
              <a:xfrm>
                <a:off x="1227964" y="3980720"/>
                <a:ext cx="3036809" cy="506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num>
                      <m:den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𝒕𝒂𝒏</m:t>
                            </m:r>
                          </m:e>
                          <m:sup>
                            <m: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d>
                          <m:dPr>
                            <m:ctrlP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</m:e>
                    </m:d>
                    <m:r>
                      <a:rPr lang="es-MX" sz="1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MX" sz="1800" b="1" dirty="0">
                    <a:solidFill>
                      <a:srgbClr val="FFFF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MX" sz="1800" b="1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  <m:sup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s-MX" sz="1800" b="1" dirty="0">
                    <a:solidFill>
                      <a:srgbClr val="FFFF0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  <m: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num>
                          <m:den>
                            <m:r>
                              <a:rPr lang="es-MX" sz="18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𝒅𝒕</m:t>
                            </m:r>
                          </m:den>
                        </m:f>
                      </m:e>
                    </m:d>
                  </m:oMath>
                </a14:m>
                <a:endParaRPr lang="es-MX" sz="18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EA353FB-7997-89DA-BC53-0349FDC7F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964" y="3980720"/>
                <a:ext cx="3036809" cy="506870"/>
              </a:xfrm>
              <a:prstGeom prst="rect">
                <a:avLst/>
              </a:prstGeom>
              <a:blipFill>
                <a:blip r:embed="rId7"/>
                <a:stretch>
                  <a:fillRect b="-120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143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>
          <a:extLst>
            <a:ext uri="{FF2B5EF4-FFF2-40B4-BE49-F238E27FC236}">
              <a16:creationId xmlns:a16="http://schemas.microsoft.com/office/drawing/2014/main" id="{E1D9ADD4-FF7D-4A98-AF00-B6EF74A86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E96710EC-C9C4-5CA9-B830-283113F49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>
            <a:extLst>
              <a:ext uri="{FF2B5EF4-FFF2-40B4-BE49-F238E27FC236}">
                <a16:creationId xmlns:a16="http://schemas.microsoft.com/office/drawing/2014/main" id="{78A19002-576F-0F1B-D64B-9F6ACAB48C02}"/>
              </a:ext>
            </a:extLst>
          </p:cNvPr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04C7BACF-E140-1F9C-FD9A-F54B5A91954F}"/>
              </a:ext>
            </a:extLst>
          </p:cNvPr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9FC4DE18-C411-525B-61C9-967551F674B6}"/>
              </a:ext>
            </a:extLst>
          </p:cNvPr>
          <p:cNvSpPr txBox="1">
            <a:spLocks/>
          </p:cNvSpPr>
          <p:nvPr/>
        </p:nvSpPr>
        <p:spPr>
          <a:xfrm>
            <a:off x="530728" y="661197"/>
            <a:ext cx="83211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Localización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basada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movimiento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Parametrización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seguimiento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trayectorias</a:t>
            </a:r>
            <a:endParaRPr lang="en-US" sz="3000" b="1" dirty="0">
              <a:solidFill>
                <a:schemeClr val="bg1">
                  <a:lumMod val="60000"/>
                  <a:lumOff val="40000"/>
                </a:schemeClr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858AA2A-1BB9-8E83-6ABF-CF9CE9CF9291}"/>
                  </a:ext>
                </a:extLst>
              </p:cNvPr>
              <p:cNvSpPr txBox="1"/>
              <p:nvPr/>
            </p:nvSpPr>
            <p:spPr>
              <a:xfrm>
                <a:off x="530728" y="2775137"/>
                <a:ext cx="2450191" cy="506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400" indent="0" algn="just">
                  <a:buNone/>
                </a:pPr>
                <a:r>
                  <a:rPr lang="el-GR" sz="1800" b="1" dirty="0">
                    <a:solidFill>
                      <a:srgbClr val="FFFF00"/>
                    </a:solidFill>
                  </a:rPr>
                  <a:t>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s-MX" sz="1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  <m:r>
                              <m:rPr>
                                <m:sty m:val="p"/>
                              </m:rPr>
                              <a:rPr lang="el-GR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𝒅𝒕</m:t>
                            </m:r>
                          </m:den>
                        </m:f>
                      </m:e>
                    </m:d>
                  </m:oMath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858AA2A-1BB9-8E83-6ABF-CF9CE9CF9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28" y="2775137"/>
                <a:ext cx="2450191" cy="506870"/>
              </a:xfrm>
              <a:prstGeom prst="rect">
                <a:avLst/>
              </a:prstGeom>
              <a:blipFill>
                <a:blip r:embed="rId4"/>
                <a:stretch>
                  <a:fillRect b="-481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n 16">
            <a:extLst>
              <a:ext uri="{FF2B5EF4-FFF2-40B4-BE49-F238E27FC236}">
                <a16:creationId xmlns:a16="http://schemas.microsoft.com/office/drawing/2014/main" id="{D27A36A7-444B-DE1B-328C-BBAAA06574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4685" y="1989331"/>
            <a:ext cx="3911271" cy="2933453"/>
          </a:xfrm>
          <a:prstGeom prst="rect">
            <a:avLst/>
          </a:prstGeom>
        </p:spPr>
      </p:pic>
      <p:sp>
        <p:nvSpPr>
          <p:cNvPr id="18" name="Google Shape;1762;p45">
            <a:extLst>
              <a:ext uri="{FF2B5EF4-FFF2-40B4-BE49-F238E27FC236}">
                <a16:creationId xmlns:a16="http://schemas.microsoft.com/office/drawing/2014/main" id="{48FC00DB-E5B0-97C8-F2A8-83016ADC2BE0}"/>
              </a:ext>
            </a:extLst>
          </p:cNvPr>
          <p:cNvSpPr txBox="1">
            <a:spLocks/>
          </p:cNvSpPr>
          <p:nvPr/>
        </p:nvSpPr>
        <p:spPr>
          <a:xfrm>
            <a:off x="456667" y="1568240"/>
            <a:ext cx="4431851" cy="1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b="1" dirty="0">
                <a:solidFill>
                  <a:schemeClr val="tx2"/>
                </a:solidFill>
              </a:rPr>
              <a:t>Paso 6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: </a:t>
            </a:r>
            <a:r>
              <a:rPr lang="es-MX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Obtenemos la expresión matemática para la velocidad angular </a:t>
            </a:r>
            <a:r>
              <a:rPr lang="es-MX" sz="1800" b="1" dirty="0">
                <a:solidFill>
                  <a:schemeClr val="tx2"/>
                </a:solidFill>
              </a:rPr>
              <a:t>ω(t)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.</a:t>
            </a:r>
            <a:endParaRPr lang="en-US" sz="1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0369C99-485C-F3D1-99A1-FA48DA5D626B}"/>
                  </a:ext>
                </a:extLst>
              </p:cNvPr>
              <p:cNvSpPr txBox="1"/>
              <p:nvPr/>
            </p:nvSpPr>
            <p:spPr>
              <a:xfrm>
                <a:off x="2354719" y="2520388"/>
                <a:ext cx="3161516" cy="7616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52400" indent="0" algn="just">
                  <a:buNone/>
                </a:pPr>
                <a:r>
                  <a:rPr lang="el-GR" sz="1800" b="1" dirty="0">
                    <a:solidFill>
                      <a:srgbClr val="FFFF00"/>
                    </a:solidFill>
                  </a:rPr>
                  <a:t>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s-MX" sz="18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d>
                          <m:dPr>
                            <m:ctrlP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𝒕𝒂𝒏</m:t>
                                </m:r>
                              </m:e>
                              <m:sup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sSup>
                                      <m:sSupPr>
                                        <m:ctrlPr>
                                          <a:rPr lang="es-MX" sz="1800" b="1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MX" sz="1800" b="1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e>
                                      <m:sup>
                                        <m:r>
                                          <a:rPr lang="es-MX" sz="1800" b="1" i="1">
                                            <a:solidFill>
                                              <a:srgbClr val="FFFF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num>
                      <m:den>
                        <m: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</m:oMath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0369C99-485C-F3D1-99A1-FA48DA5D6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719" y="2520388"/>
                <a:ext cx="3161516" cy="761619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Google Shape;1762;p45">
            <a:extLst>
              <a:ext uri="{FF2B5EF4-FFF2-40B4-BE49-F238E27FC236}">
                <a16:creationId xmlns:a16="http://schemas.microsoft.com/office/drawing/2014/main" id="{DC902D58-2E46-D3D0-F454-4765FE9AC5E0}"/>
              </a:ext>
            </a:extLst>
          </p:cNvPr>
          <p:cNvSpPr txBox="1">
            <a:spLocks/>
          </p:cNvSpPr>
          <p:nvPr/>
        </p:nvSpPr>
        <p:spPr>
          <a:xfrm>
            <a:off x="463558" y="3278352"/>
            <a:ext cx="3535757" cy="404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MX" sz="1800" b="1" dirty="0">
                <a:solidFill>
                  <a:schemeClr val="tx2"/>
                </a:solidFill>
              </a:rPr>
              <a:t>Aplicando la regla obtenemos : </a:t>
            </a:r>
            <a:endParaRPr lang="en-US" sz="1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28DC2C4-63C2-B14B-EDB9-6698CAA07B36}"/>
                  </a:ext>
                </a:extLst>
              </p:cNvPr>
              <p:cNvSpPr txBox="1"/>
              <p:nvPr/>
            </p:nvSpPr>
            <p:spPr>
              <a:xfrm>
                <a:off x="1654502" y="3980719"/>
                <a:ext cx="3036809" cy="882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sz="1800" b="1" dirty="0">
                    <a:solidFill>
                      <a:srgbClr val="FFFF00"/>
                    </a:solidFill>
                  </a:rPr>
                  <a:t>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s-MX" sz="18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num>
                      <m:den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MX" sz="1800" b="1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sSup>
                                  <m:sSupPr>
                                    <m:ctrlP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p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d>
                          </m:e>
                          <m:sup>
                            <m: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en-US" sz="1800" b="1" dirty="0">
                  <a:solidFill>
                    <a:schemeClr val="tx2"/>
                  </a:solidFill>
                </a:endParaRPr>
              </a:p>
              <a:p>
                <a:endParaRPr lang="es-MX" sz="18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28DC2C4-63C2-B14B-EDB9-6698CAA07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4502" y="3980719"/>
                <a:ext cx="3036809" cy="882165"/>
              </a:xfrm>
              <a:prstGeom prst="rect">
                <a:avLst/>
              </a:prstGeom>
              <a:blipFill>
                <a:blip r:embed="rId7"/>
                <a:stretch>
                  <a:fillRect l="-160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7015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>
          <a:extLst>
            <a:ext uri="{FF2B5EF4-FFF2-40B4-BE49-F238E27FC236}">
              <a16:creationId xmlns:a16="http://schemas.microsoft.com/office/drawing/2014/main" id="{B68A2CC1-3F31-D90A-7764-4C5AFCFCE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>
            <a:extLst>
              <a:ext uri="{FF2B5EF4-FFF2-40B4-BE49-F238E27FC236}">
                <a16:creationId xmlns:a16="http://schemas.microsoft.com/office/drawing/2014/main" id="{E71E9C1F-24F5-C522-C260-192AD5A5A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>
            <a:extLst>
              <a:ext uri="{FF2B5EF4-FFF2-40B4-BE49-F238E27FC236}">
                <a16:creationId xmlns:a16="http://schemas.microsoft.com/office/drawing/2014/main" id="{1572F47F-E50E-BC0B-1E48-E218C548545B}"/>
              </a:ext>
            </a:extLst>
          </p:cNvPr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36;p27">
            <a:extLst>
              <a:ext uri="{FF2B5EF4-FFF2-40B4-BE49-F238E27FC236}">
                <a16:creationId xmlns:a16="http://schemas.microsoft.com/office/drawing/2014/main" id="{1DB58EBD-F747-6954-EF94-EC632631C2C8}"/>
              </a:ext>
            </a:extLst>
          </p:cNvPr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B78C002C-9177-EBDE-44C0-9557A627198B}"/>
              </a:ext>
            </a:extLst>
          </p:cNvPr>
          <p:cNvSpPr txBox="1">
            <a:spLocks/>
          </p:cNvSpPr>
          <p:nvPr/>
        </p:nvSpPr>
        <p:spPr>
          <a:xfrm>
            <a:off x="530728" y="661197"/>
            <a:ext cx="83211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Localización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basada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movimiento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Parametrización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en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seguimiento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trayectorias</a:t>
            </a:r>
            <a:endParaRPr lang="en-US" sz="3000" b="1" dirty="0">
              <a:solidFill>
                <a:schemeClr val="bg1">
                  <a:lumMod val="60000"/>
                  <a:lumOff val="40000"/>
                </a:schemeClr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D1A8CA4-C2DA-DAC7-AF07-6E8109FCD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4685" y="1989331"/>
            <a:ext cx="3911271" cy="2933453"/>
          </a:xfrm>
          <a:prstGeom prst="rect">
            <a:avLst/>
          </a:prstGeom>
        </p:spPr>
      </p:pic>
      <p:sp>
        <p:nvSpPr>
          <p:cNvPr id="18" name="Google Shape;1762;p45">
            <a:extLst>
              <a:ext uri="{FF2B5EF4-FFF2-40B4-BE49-F238E27FC236}">
                <a16:creationId xmlns:a16="http://schemas.microsoft.com/office/drawing/2014/main" id="{DC9C9EB9-93A3-6622-368E-B1EDFF0607DA}"/>
              </a:ext>
            </a:extLst>
          </p:cNvPr>
          <p:cNvSpPr txBox="1">
            <a:spLocks/>
          </p:cNvSpPr>
          <p:nvPr/>
        </p:nvSpPr>
        <p:spPr>
          <a:xfrm>
            <a:off x="456668" y="1568240"/>
            <a:ext cx="4115332" cy="1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b="1" dirty="0">
                <a:solidFill>
                  <a:schemeClr val="tx2"/>
                </a:solidFill>
              </a:rPr>
              <a:t>Paso 7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: Finalmente </a:t>
            </a:r>
            <a:r>
              <a:rPr lang="es-MX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obtenemos la expresión matemática para la velocidad lineal </a:t>
            </a:r>
            <a:r>
              <a:rPr lang="es-MX" sz="1800" b="1" dirty="0">
                <a:solidFill>
                  <a:schemeClr val="tx2"/>
                </a:solidFill>
              </a:rPr>
              <a:t>u(t)</a:t>
            </a:r>
            <a:r>
              <a:rPr lang="es-MX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 y la velocidad angular </a:t>
            </a:r>
            <a:r>
              <a:rPr lang="es-MX" sz="1800" b="1" dirty="0">
                <a:solidFill>
                  <a:schemeClr val="tx2"/>
                </a:solidFill>
              </a:rPr>
              <a:t>ω(t)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.</a:t>
            </a:r>
            <a:endParaRPr lang="en-US" sz="1800" b="1" dirty="0">
              <a:solidFill>
                <a:schemeClr val="tx2"/>
              </a:solidFill>
            </a:endParaRPr>
          </a:p>
        </p:txBody>
      </p:sp>
      <p:sp>
        <p:nvSpPr>
          <p:cNvPr id="3" name="Google Shape;1762;p45">
            <a:extLst>
              <a:ext uri="{FF2B5EF4-FFF2-40B4-BE49-F238E27FC236}">
                <a16:creationId xmlns:a16="http://schemas.microsoft.com/office/drawing/2014/main" id="{45A1B078-F453-CD5F-2CA2-1ED86096389A}"/>
              </a:ext>
            </a:extLst>
          </p:cNvPr>
          <p:cNvSpPr txBox="1">
            <a:spLocks/>
          </p:cNvSpPr>
          <p:nvPr/>
        </p:nvSpPr>
        <p:spPr>
          <a:xfrm>
            <a:off x="530728" y="3516650"/>
            <a:ext cx="3535757" cy="404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MX" sz="1800" b="1" dirty="0">
                <a:solidFill>
                  <a:schemeClr val="tx2"/>
                </a:solidFill>
              </a:rPr>
              <a:t>Velocidad angular : </a:t>
            </a:r>
            <a:endParaRPr lang="en-US" sz="1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154A3585-306C-C5D0-8747-086EA15936DE}"/>
                  </a:ext>
                </a:extLst>
              </p:cNvPr>
              <p:cNvSpPr txBox="1"/>
              <p:nvPr/>
            </p:nvSpPr>
            <p:spPr>
              <a:xfrm>
                <a:off x="1371642" y="4150977"/>
                <a:ext cx="2157578" cy="882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sz="1800" b="1" dirty="0">
                    <a:solidFill>
                      <a:srgbClr val="FFFF00"/>
                    </a:solidFill>
                  </a:rPr>
                  <a:t>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8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s-MX" sz="18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num>
                      <m:den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s-MX" sz="18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MX" sz="1800" b="1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sSup>
                                  <m:sSupPr>
                                    <m:ctrlP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p>
                                    <m:r>
                                      <a:rPr lang="es-MX" sz="1800" b="1" i="1">
                                        <a:solidFill>
                                          <a:srgbClr val="FFFF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MX" sz="1800" b="1" i="1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d>
                          </m:e>
                          <m:sup>
                            <m:r>
                              <a:rPr lang="es-MX" sz="18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en-US" sz="1800" b="1" dirty="0">
                  <a:solidFill>
                    <a:schemeClr val="tx2"/>
                  </a:solidFill>
                </a:endParaRPr>
              </a:p>
              <a:p>
                <a:endParaRPr lang="es-MX" sz="18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154A3585-306C-C5D0-8747-086EA1593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42" y="4150977"/>
                <a:ext cx="2157578" cy="882165"/>
              </a:xfrm>
              <a:prstGeom prst="rect">
                <a:avLst/>
              </a:prstGeom>
              <a:blipFill>
                <a:blip r:embed="rId5"/>
                <a:stretch>
                  <a:fillRect l="-226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1762;p45">
            <a:extLst>
              <a:ext uri="{FF2B5EF4-FFF2-40B4-BE49-F238E27FC236}">
                <a16:creationId xmlns:a16="http://schemas.microsoft.com/office/drawing/2014/main" id="{A47DA374-6A60-9F8A-1ACC-062F9DE1D6DD}"/>
              </a:ext>
            </a:extLst>
          </p:cNvPr>
          <p:cNvSpPr txBox="1">
            <a:spLocks/>
          </p:cNvSpPr>
          <p:nvPr/>
        </p:nvSpPr>
        <p:spPr>
          <a:xfrm>
            <a:off x="463559" y="2643975"/>
            <a:ext cx="3535757" cy="404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MX" sz="1800" b="1" dirty="0">
                <a:solidFill>
                  <a:schemeClr val="tx2"/>
                </a:solidFill>
              </a:rPr>
              <a:t>Velocidad lineal : </a:t>
            </a:r>
            <a:endParaRPr lang="en-US" sz="1800" b="1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762;p45">
                <a:extLst>
                  <a:ext uri="{FF2B5EF4-FFF2-40B4-BE49-F238E27FC236}">
                    <a16:creationId xmlns:a16="http://schemas.microsoft.com/office/drawing/2014/main" id="{4D2619C1-A13B-674D-983C-B380F1148C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5504" y="3042429"/>
                <a:ext cx="2883128" cy="4791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d>
                        <m:dPr>
                          <m:ctrlPr>
                            <a:rPr lang="es-MX" sz="18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s-MX" sz="1800" b="1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MX" sz="18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MX" sz="1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MX" sz="18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MX" sz="1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MX" sz="1800" b="1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b="1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sSup>
                                    <m:sSupPr>
                                      <m:ctrlPr>
                                        <a:rPr lang="es-MX" sz="1800" b="1" i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MX" sz="1800" b="1" i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e>
                                    <m:sup>
                                      <m:r>
                                        <a:rPr lang="es-MX" sz="1800" b="1" i="1" smtClean="0">
                                          <a:solidFill>
                                            <a:srgbClr val="FFFF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s-MX" sz="1800" b="1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s-MX" sz="1800" b="1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e>
                            <m:sup>
                              <m:r>
                                <a:rPr lang="es-MX" sz="1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9" name="Google Shape;1762;p45">
                <a:extLst>
                  <a:ext uri="{FF2B5EF4-FFF2-40B4-BE49-F238E27FC236}">
                    <a16:creationId xmlns:a16="http://schemas.microsoft.com/office/drawing/2014/main" id="{4D2619C1-A13B-674D-983C-B380F1148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504" y="3042429"/>
                <a:ext cx="2883128" cy="479157"/>
              </a:xfrm>
              <a:prstGeom prst="rect">
                <a:avLst/>
              </a:prstGeom>
              <a:blipFill>
                <a:blip r:embed="rId6"/>
                <a:stretch>
                  <a:fillRect b="-12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799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68;p46"/>
          <p:cNvSpPr txBox="1">
            <a:spLocks/>
          </p:cNvSpPr>
          <p:nvPr/>
        </p:nvSpPr>
        <p:spPr>
          <a:xfrm>
            <a:off x="2562175" y="725400"/>
            <a:ext cx="4020000" cy="1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s-ES" dirty="0"/>
              <a:t>Fin de la Sesión</a:t>
            </a:r>
          </a:p>
        </p:txBody>
      </p:sp>
      <p:sp>
        <p:nvSpPr>
          <p:cNvPr id="7" name="Google Shape;1769;p46"/>
          <p:cNvSpPr txBox="1">
            <a:spLocks/>
          </p:cNvSpPr>
          <p:nvPr/>
        </p:nvSpPr>
        <p:spPr>
          <a:xfrm>
            <a:off x="2561975" y="2105100"/>
            <a:ext cx="4020000" cy="1203900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Fira Sans Condensed Light"/>
              <a:buAutoNum type="arabicPeriod"/>
              <a:defRPr sz="13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Preguntas?</a:t>
            </a:r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>
                <a:hlinkClick r:id="rId4"/>
              </a:rPr>
              <a:t>Alfredo.garcias@tec.mx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/>
              <a:t>https://itesm.zoom.us/j/9648719322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 </a:t>
            </a:r>
          </a:p>
        </p:txBody>
      </p:sp>
      <p:grpSp>
        <p:nvGrpSpPr>
          <p:cNvPr id="8" name="Google Shape;1771;p46"/>
          <p:cNvGrpSpPr/>
          <p:nvPr/>
        </p:nvGrpSpPr>
        <p:grpSpPr>
          <a:xfrm>
            <a:off x="3914560" y="3451633"/>
            <a:ext cx="268782" cy="268485"/>
            <a:chOff x="3303268" y="3817349"/>
            <a:chExt cx="346056" cy="345674"/>
          </a:xfrm>
        </p:grpSpPr>
        <p:sp>
          <p:nvSpPr>
            <p:cNvPr id="9" name="Google Shape;1772;p46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73;p46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74;p46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75;p46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776;p46"/>
          <p:cNvGrpSpPr/>
          <p:nvPr/>
        </p:nvGrpSpPr>
        <p:grpSpPr>
          <a:xfrm>
            <a:off x="4263368" y="3451633"/>
            <a:ext cx="268782" cy="268485"/>
            <a:chOff x="3752358" y="3817349"/>
            <a:chExt cx="346056" cy="345674"/>
          </a:xfrm>
        </p:grpSpPr>
        <p:sp>
          <p:nvSpPr>
            <p:cNvPr id="14" name="Google Shape;1777;p46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78;p46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79;p46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80;p46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781;p46"/>
          <p:cNvGrpSpPr/>
          <p:nvPr/>
        </p:nvGrpSpPr>
        <p:grpSpPr>
          <a:xfrm>
            <a:off x="4612176" y="3451633"/>
            <a:ext cx="268757" cy="268485"/>
            <a:chOff x="4201447" y="3817349"/>
            <a:chExt cx="346024" cy="345674"/>
          </a:xfrm>
        </p:grpSpPr>
        <p:sp>
          <p:nvSpPr>
            <p:cNvPr id="19" name="Google Shape;1782;p46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83;p46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1784;p46"/>
          <p:cNvGrpSpPr/>
          <p:nvPr/>
        </p:nvGrpSpPr>
        <p:grpSpPr>
          <a:xfrm>
            <a:off x="4960939" y="3451633"/>
            <a:ext cx="268460" cy="268485"/>
            <a:chOff x="5549861" y="3817349"/>
            <a:chExt cx="345642" cy="345674"/>
          </a:xfrm>
        </p:grpSpPr>
        <p:sp>
          <p:nvSpPr>
            <p:cNvPr id="22" name="Google Shape;1785;p46"/>
            <p:cNvSpPr/>
            <p:nvPr/>
          </p:nvSpPr>
          <p:spPr>
            <a:xfrm>
              <a:off x="5549861" y="3817349"/>
              <a:ext cx="345642" cy="345674"/>
            </a:xfrm>
            <a:custGeom>
              <a:avLst/>
              <a:gdLst/>
              <a:ahLst/>
              <a:cxnLst/>
              <a:rect l="l" t="t" r="r" b="b"/>
              <a:pathLst>
                <a:path w="10859" h="10860" extrusionOk="0">
                  <a:moveTo>
                    <a:pt x="5429" y="334"/>
                  </a:moveTo>
                  <a:cubicBezTo>
                    <a:pt x="8239" y="334"/>
                    <a:pt x="10513" y="2608"/>
                    <a:pt x="10513" y="5430"/>
                  </a:cubicBezTo>
                  <a:cubicBezTo>
                    <a:pt x="10513" y="8240"/>
                    <a:pt x="8227" y="10514"/>
                    <a:pt x="5429" y="10514"/>
                  </a:cubicBezTo>
                  <a:cubicBezTo>
                    <a:pt x="2619" y="10514"/>
                    <a:pt x="333" y="8240"/>
                    <a:pt x="333" y="5430"/>
                  </a:cubicBezTo>
                  <a:cubicBezTo>
                    <a:pt x="333" y="2608"/>
                    <a:pt x="2619" y="334"/>
                    <a:pt x="5429" y="334"/>
                  </a:cubicBezTo>
                  <a:close/>
                  <a:moveTo>
                    <a:pt x="5429" y="1"/>
                  </a:moveTo>
                  <a:cubicBezTo>
                    <a:pt x="3989" y="1"/>
                    <a:pt x="2619" y="560"/>
                    <a:pt x="1584" y="1584"/>
                  </a:cubicBezTo>
                  <a:cubicBezTo>
                    <a:pt x="560" y="2620"/>
                    <a:pt x="0" y="3989"/>
                    <a:pt x="0" y="5430"/>
                  </a:cubicBezTo>
                  <a:cubicBezTo>
                    <a:pt x="0" y="6871"/>
                    <a:pt x="560" y="8240"/>
                    <a:pt x="1584" y="9264"/>
                  </a:cubicBezTo>
                  <a:cubicBezTo>
                    <a:pt x="2619" y="10300"/>
                    <a:pt x="3989" y="10859"/>
                    <a:pt x="5429" y="10859"/>
                  </a:cubicBezTo>
                  <a:cubicBezTo>
                    <a:pt x="6870" y="10859"/>
                    <a:pt x="8239" y="10300"/>
                    <a:pt x="9263" y="9264"/>
                  </a:cubicBezTo>
                  <a:cubicBezTo>
                    <a:pt x="10299" y="8240"/>
                    <a:pt x="10859" y="6871"/>
                    <a:pt x="10859" y="5430"/>
                  </a:cubicBezTo>
                  <a:cubicBezTo>
                    <a:pt x="10859" y="3989"/>
                    <a:pt x="10299" y="2620"/>
                    <a:pt x="9263" y="1584"/>
                  </a:cubicBezTo>
                  <a:cubicBezTo>
                    <a:pt x="8239" y="560"/>
                    <a:pt x="6870" y="1"/>
                    <a:pt x="542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86;p46"/>
            <p:cNvSpPr/>
            <p:nvPr/>
          </p:nvSpPr>
          <p:spPr>
            <a:xfrm>
              <a:off x="5590763" y="3890208"/>
              <a:ext cx="262661" cy="200052"/>
            </a:xfrm>
            <a:custGeom>
              <a:avLst/>
              <a:gdLst/>
              <a:ahLst/>
              <a:cxnLst/>
              <a:rect l="l" t="t" r="r" b="b"/>
              <a:pathLst>
                <a:path w="8252" h="6285" extrusionOk="0">
                  <a:moveTo>
                    <a:pt x="4123" y="1"/>
                  </a:moveTo>
                  <a:cubicBezTo>
                    <a:pt x="3010" y="1"/>
                    <a:pt x="1900" y="63"/>
                    <a:pt x="799" y="188"/>
                  </a:cubicBezTo>
                  <a:cubicBezTo>
                    <a:pt x="513" y="224"/>
                    <a:pt x="287" y="450"/>
                    <a:pt x="239" y="712"/>
                  </a:cubicBezTo>
                  <a:cubicBezTo>
                    <a:pt x="1" y="2319"/>
                    <a:pt x="1" y="3963"/>
                    <a:pt x="239" y="5570"/>
                  </a:cubicBezTo>
                  <a:cubicBezTo>
                    <a:pt x="287" y="5844"/>
                    <a:pt x="513" y="6058"/>
                    <a:pt x="799" y="6082"/>
                  </a:cubicBezTo>
                  <a:cubicBezTo>
                    <a:pt x="1894" y="6201"/>
                    <a:pt x="3013" y="6284"/>
                    <a:pt x="4132" y="6284"/>
                  </a:cubicBezTo>
                  <a:cubicBezTo>
                    <a:pt x="4609" y="6284"/>
                    <a:pt x="5085" y="6260"/>
                    <a:pt x="5561" y="6249"/>
                  </a:cubicBezTo>
                  <a:cubicBezTo>
                    <a:pt x="5644" y="6249"/>
                    <a:pt x="5716" y="6177"/>
                    <a:pt x="5716" y="6070"/>
                  </a:cubicBezTo>
                  <a:cubicBezTo>
                    <a:pt x="5716" y="5963"/>
                    <a:pt x="5633" y="5891"/>
                    <a:pt x="5537" y="5891"/>
                  </a:cubicBezTo>
                  <a:cubicBezTo>
                    <a:pt x="5051" y="5914"/>
                    <a:pt x="4564" y="5925"/>
                    <a:pt x="4076" y="5925"/>
                  </a:cubicBezTo>
                  <a:cubicBezTo>
                    <a:pt x="2998" y="5925"/>
                    <a:pt x="1916" y="5868"/>
                    <a:pt x="834" y="5737"/>
                  </a:cubicBezTo>
                  <a:cubicBezTo>
                    <a:pt x="715" y="5725"/>
                    <a:pt x="620" y="5641"/>
                    <a:pt x="596" y="5498"/>
                  </a:cubicBezTo>
                  <a:cubicBezTo>
                    <a:pt x="382" y="3927"/>
                    <a:pt x="382" y="2319"/>
                    <a:pt x="596" y="736"/>
                  </a:cubicBezTo>
                  <a:cubicBezTo>
                    <a:pt x="620" y="617"/>
                    <a:pt x="715" y="522"/>
                    <a:pt x="834" y="498"/>
                  </a:cubicBezTo>
                  <a:cubicBezTo>
                    <a:pt x="1942" y="379"/>
                    <a:pt x="3037" y="319"/>
                    <a:pt x="4144" y="319"/>
                  </a:cubicBezTo>
                  <a:cubicBezTo>
                    <a:pt x="5240" y="319"/>
                    <a:pt x="6347" y="379"/>
                    <a:pt x="7442" y="498"/>
                  </a:cubicBezTo>
                  <a:cubicBezTo>
                    <a:pt x="7561" y="522"/>
                    <a:pt x="7669" y="605"/>
                    <a:pt x="7680" y="736"/>
                  </a:cubicBezTo>
                  <a:cubicBezTo>
                    <a:pt x="7907" y="2319"/>
                    <a:pt x="7907" y="3927"/>
                    <a:pt x="7680" y="5498"/>
                  </a:cubicBezTo>
                  <a:cubicBezTo>
                    <a:pt x="7669" y="5617"/>
                    <a:pt x="7561" y="5725"/>
                    <a:pt x="7442" y="5737"/>
                  </a:cubicBezTo>
                  <a:cubicBezTo>
                    <a:pt x="7085" y="5784"/>
                    <a:pt x="6752" y="5820"/>
                    <a:pt x="6395" y="5844"/>
                  </a:cubicBezTo>
                  <a:cubicBezTo>
                    <a:pt x="6299" y="5844"/>
                    <a:pt x="6228" y="5927"/>
                    <a:pt x="6228" y="6010"/>
                  </a:cubicBezTo>
                  <a:cubicBezTo>
                    <a:pt x="6228" y="6110"/>
                    <a:pt x="6299" y="6178"/>
                    <a:pt x="6386" y="6178"/>
                  </a:cubicBezTo>
                  <a:cubicBezTo>
                    <a:pt x="6393" y="6178"/>
                    <a:pt x="6399" y="6178"/>
                    <a:pt x="6406" y="6177"/>
                  </a:cubicBezTo>
                  <a:cubicBezTo>
                    <a:pt x="6764" y="6141"/>
                    <a:pt x="7121" y="6118"/>
                    <a:pt x="7478" y="6070"/>
                  </a:cubicBezTo>
                  <a:cubicBezTo>
                    <a:pt x="7764" y="6034"/>
                    <a:pt x="7978" y="5820"/>
                    <a:pt x="8026" y="5546"/>
                  </a:cubicBezTo>
                  <a:cubicBezTo>
                    <a:pt x="8252" y="3963"/>
                    <a:pt x="8252" y="2319"/>
                    <a:pt x="8014" y="712"/>
                  </a:cubicBezTo>
                  <a:cubicBezTo>
                    <a:pt x="7966" y="426"/>
                    <a:pt x="7740" y="224"/>
                    <a:pt x="7466" y="188"/>
                  </a:cubicBezTo>
                  <a:cubicBezTo>
                    <a:pt x="6353" y="63"/>
                    <a:pt x="5237" y="1"/>
                    <a:pt x="41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87;p46"/>
            <p:cNvSpPr/>
            <p:nvPr/>
          </p:nvSpPr>
          <p:spPr>
            <a:xfrm>
              <a:off x="5680587" y="3935024"/>
              <a:ext cx="105389" cy="110514"/>
            </a:xfrm>
            <a:custGeom>
              <a:avLst/>
              <a:gdLst/>
              <a:ahLst/>
              <a:cxnLst/>
              <a:rect l="l" t="t" r="r" b="b"/>
              <a:pathLst>
                <a:path w="3311" h="3472" extrusionOk="0">
                  <a:moveTo>
                    <a:pt x="334" y="447"/>
                  </a:moveTo>
                  <a:lnTo>
                    <a:pt x="2763" y="1733"/>
                  </a:lnTo>
                  <a:lnTo>
                    <a:pt x="334" y="3007"/>
                  </a:lnTo>
                  <a:lnTo>
                    <a:pt x="334" y="447"/>
                  </a:lnTo>
                  <a:close/>
                  <a:moveTo>
                    <a:pt x="163" y="1"/>
                  </a:moveTo>
                  <a:cubicBezTo>
                    <a:pt x="135" y="1"/>
                    <a:pt x="108" y="7"/>
                    <a:pt x="84" y="18"/>
                  </a:cubicBezTo>
                  <a:cubicBezTo>
                    <a:pt x="36" y="54"/>
                    <a:pt x="1" y="114"/>
                    <a:pt x="1" y="173"/>
                  </a:cubicBezTo>
                  <a:lnTo>
                    <a:pt x="1" y="3293"/>
                  </a:lnTo>
                  <a:cubicBezTo>
                    <a:pt x="1" y="3352"/>
                    <a:pt x="24" y="3412"/>
                    <a:pt x="84" y="3447"/>
                  </a:cubicBezTo>
                  <a:cubicBezTo>
                    <a:pt x="120" y="3459"/>
                    <a:pt x="144" y="3471"/>
                    <a:pt x="179" y="3471"/>
                  </a:cubicBezTo>
                  <a:cubicBezTo>
                    <a:pt x="203" y="3471"/>
                    <a:pt x="239" y="3471"/>
                    <a:pt x="251" y="3459"/>
                  </a:cubicBezTo>
                  <a:lnTo>
                    <a:pt x="3227" y="1900"/>
                  </a:lnTo>
                  <a:cubicBezTo>
                    <a:pt x="3287" y="1864"/>
                    <a:pt x="3311" y="1804"/>
                    <a:pt x="3311" y="1745"/>
                  </a:cubicBezTo>
                  <a:cubicBezTo>
                    <a:pt x="3311" y="1673"/>
                    <a:pt x="3287" y="1614"/>
                    <a:pt x="3227" y="1578"/>
                  </a:cubicBezTo>
                  <a:lnTo>
                    <a:pt x="251" y="18"/>
                  </a:lnTo>
                  <a:cubicBezTo>
                    <a:pt x="221" y="7"/>
                    <a:pt x="191" y="1"/>
                    <a:pt x="1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tabLst/>
              <a:defRPr/>
            </a:pP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3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  <a:b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3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Tech Agency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11926</TotalTime>
  <Words>844</Words>
  <Application>Microsoft Office PowerPoint</Application>
  <PresentationFormat>Presentación en pantalla (16:9)</PresentationFormat>
  <Paragraphs>180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6" baseType="lpstr">
      <vt:lpstr>Cambria Math</vt:lpstr>
      <vt:lpstr>Fira Sans Condensed Light</vt:lpstr>
      <vt:lpstr>Anton</vt:lpstr>
      <vt:lpstr>Arial</vt:lpstr>
      <vt:lpstr>CambriaMath</vt:lpstr>
      <vt:lpstr>Rajdhani</vt:lpstr>
      <vt:lpstr>Advent Pro Light</vt:lpstr>
      <vt:lpstr>Ai Tech Agency by Slidesgo</vt:lpstr>
      <vt:lpstr>Presentación de PowerPoint</vt:lpstr>
      <vt:lpstr>Bienvenida</vt:lpstr>
      <vt:lpstr>Presentación de PowerPoint</vt:lpstr>
      <vt:lpstr>Clase Anterior</vt:lpstr>
      <vt:lpstr>Presentación de PowerPoint</vt:lpstr>
      <vt:lpstr>Presentación de PowerPoint</vt:lpstr>
      <vt:lpstr>Presentación de PowerPoint</vt:lpstr>
      <vt:lpstr>Presentación de PowerPoint</vt:lpstr>
      <vt:lpstr>Clase Actual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DOCTORAL</dc:title>
  <dc:creator>Alfredo Garcia</dc:creator>
  <cp:lastModifiedBy>Alfredo Garcia Suarez</cp:lastModifiedBy>
  <cp:revision>312</cp:revision>
  <dcterms:modified xsi:type="dcterms:W3CDTF">2026-04-15T03:38:44Z</dcterms:modified>
</cp:coreProperties>
</file>