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0"/>
  </p:notesMasterIdLst>
  <p:sldIdLst>
    <p:sldId id="256" r:id="rId2"/>
    <p:sldId id="357" r:id="rId3"/>
    <p:sldId id="358" r:id="rId4"/>
    <p:sldId id="364" r:id="rId5"/>
    <p:sldId id="493" r:id="rId6"/>
    <p:sldId id="494" r:id="rId7"/>
    <p:sldId id="495" r:id="rId8"/>
    <p:sldId id="496" r:id="rId9"/>
    <p:sldId id="497" r:id="rId10"/>
    <p:sldId id="498" r:id="rId11"/>
    <p:sldId id="499" r:id="rId12"/>
    <p:sldId id="500" r:id="rId13"/>
    <p:sldId id="440" r:id="rId14"/>
    <p:sldId id="502" r:id="rId15"/>
    <p:sldId id="503" r:id="rId16"/>
    <p:sldId id="490" r:id="rId17"/>
    <p:sldId id="492" r:id="rId18"/>
    <p:sldId id="280" r:id="rId19"/>
  </p:sldIdLst>
  <p:sldSz cx="9144000" cy="5143500" type="screen16x9"/>
  <p:notesSz cx="6858000" cy="9144000"/>
  <p:embeddedFontLst>
    <p:embeddedFont>
      <p:font typeface="Advent Pro Light" panose="020B0604020202020204" charset="0"/>
      <p:regular r:id="rId21"/>
      <p:bold r:id="rId22"/>
    </p:embeddedFont>
    <p:embeddedFont>
      <p:font typeface="Anton" pitchFamily="2" charset="0"/>
      <p:regular r:id="rId23"/>
    </p:embeddedFont>
    <p:embeddedFont>
      <p:font typeface="Cambria Math" panose="02040503050406030204" pitchFamily="18" charset="0"/>
      <p:regular r:id="rId24"/>
    </p:embeddedFont>
    <p:embeddedFont>
      <p:font typeface="Fira Sans Condensed Light" panose="020B0403050000020004" pitchFamily="34" charset="0"/>
      <p:regular r:id="rId25"/>
      <p:bold r:id="rId26"/>
      <p:italic r:id="rId27"/>
      <p:boldItalic r:id="rId28"/>
    </p:embeddedFont>
    <p:embeddedFont>
      <p:font typeface="Rajdhani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46FD67DB-BDE3-1AB7-5B48-5788B801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E0BF0780-02E1-FCA3-A9A6-4B1D868F5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E1A50311-96D9-B044-201C-E54770C6E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886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6BA969B4-C5BA-535C-AC51-AEA4BEA1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4C763040-3D43-0F13-BF13-8ABBD53AD1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03CE3056-7E5D-5E4C-E727-482F20287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7109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78B339B1-6D40-C44A-492F-E1514B5C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47977F9B-037D-ABCE-2D28-188DD8FE1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F559396F-CE41-ADEF-3ACF-6E0FB9E81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1919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834A1CC6-5957-3DD3-FCA0-B0677C1A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3923F5DD-D8C2-258B-2F3B-3F32A8F1B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F90B5AC4-0A0F-4284-0D44-5D417A537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870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D53A1B69-995A-B4EF-BE75-0253AE6F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B3810515-4A30-8C59-242C-42E854DCC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D1A05F13-2D7C-AE92-35D5-E6D6E2BDC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4446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E31EFA79-40D9-CF27-60E3-86DA0856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1D654F29-B7C6-8384-B5C4-5D82C1C62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C40B09E1-E01B-AD3E-637E-AF39781A7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6785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D4F424B7-EA17-3576-C179-8B2A4686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8AFE9257-51E4-9DDD-E919-EB4153B30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093A3E7C-B8EB-E532-D405-A68EC98E6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6304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F98DA05F-9651-1B40-8486-F2C1B1F3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6CC1B9DF-A93B-780A-5BA0-5B63553B9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52041485-ECE8-E959-6B52-AAFD19EB1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525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5206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7F18985C-89F0-E030-7966-4A63FCDE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C255EA1D-19C9-AE3A-8023-9AC1313477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A0CEA6BD-3516-8596-5790-B719638F0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7682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284BB465-D161-28AC-B1BC-69E223528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D5149A65-CC72-A297-311B-4D51465C9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FE260F6D-528F-309F-F27F-3861F2BA5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3039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210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45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TE3002B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 de Robótica Inteligente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17 de Abril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>
            <a:cxnSpLocks/>
          </p:cNvCxnSpPr>
          <p:nvPr/>
        </p:nvCxnSpPr>
        <p:spPr>
          <a:xfrm>
            <a:off x="4594711" y="1828800"/>
            <a:ext cx="0" cy="18288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256213" y="1911729"/>
            <a:ext cx="352782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just"/>
            <a:r>
              <a:rPr lang="es-ES" dirty="0"/>
              <a:t>     </a:t>
            </a:r>
            <a:r>
              <a:rPr lang="es-ES" b="1" dirty="0"/>
              <a:t>“La robótica móvil puede definirse como sistemas robóticos que pueden desplazarse en distintos entornos y que cuenta con distintas capacidades que les permiten ejecutar tareas complejas, ya sea de forma autónoma o controlados por un operador humano..”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Cinco tendencias esenciales que impulsan el crecimiento de la robótica móvil">
            <a:extLst>
              <a:ext uri="{FF2B5EF4-FFF2-40B4-BE49-F238E27FC236}">
                <a16:creationId xmlns:a16="http://schemas.microsoft.com/office/drawing/2014/main" id="{DFE48314-CCC1-71E9-5268-FDB10F87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06" y="1567133"/>
            <a:ext cx="3985292" cy="242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MX" dirty="0"/>
              <a:t> -Localización basada en Movimiento</a:t>
            </a:r>
          </a:p>
          <a:p>
            <a:pPr marL="146050" lvl="0" indent="0">
              <a:buSzPts val="1300"/>
            </a:pPr>
            <a:r>
              <a:rPr lang="es-MX" dirty="0"/>
              <a:t> -Parametrización en seguimiento de trayectoria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72953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C6CBA8EA-3C3F-DF2A-3A23-61CD37CF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1A31FFCB-3A3A-AAAE-9F3E-CB401584B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03D9108E-F331-0995-8F7D-4BCCCECE0BB3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D6325499-E943-44D2-1AB3-6589B70402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841" y="3861264"/>
                <a:ext cx="2178600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D6325499-E943-44D2-1AB3-6589B704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41" y="3861264"/>
                <a:ext cx="2178600" cy="479157"/>
              </a:xfrm>
              <a:prstGeom prst="rect">
                <a:avLst/>
              </a:prstGeom>
              <a:blipFill>
                <a:blip r:embed="rId4"/>
                <a:stretch>
                  <a:fillRect b="-139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11329A22-FF0C-76CB-39FA-1E1ECBAF4406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1644E85A-F3D5-2E17-F7C9-9C5465B44C90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94A524F-5A7E-25AF-7A63-3590C4D22A87}"/>
                  </a:ext>
                </a:extLst>
              </p:cNvPr>
              <p:cNvSpPr txBox="1"/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94A524F-5A7E-25AF-7A63-3590C4D22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2A4210C9-BAC6-E1B8-47DC-4DBE46ACE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3285C779-AC69-9D20-E6EF-014D8DFF0528}"/>
              </a:ext>
            </a:extLst>
          </p:cNvPr>
          <p:cNvSpPr txBox="1">
            <a:spLocks/>
          </p:cNvSpPr>
          <p:nvPr/>
        </p:nvSpPr>
        <p:spPr>
          <a:xfrm>
            <a:off x="456668" y="2016783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1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Definimos la función de la trayectoria que deseamos parametrizar, así como su grafico en el espacio temporal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98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3195E856-7E2D-0772-3BF6-75172A761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9D488DE8-C5FB-16F1-7412-8113D42AF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044C6288-099A-86BC-7E1B-EDF321B222AE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53CCE120-3C92-C764-D1EE-2069F2918C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9008" y="3861264"/>
                <a:ext cx="2310990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53CCE120-3C92-C764-D1EE-2069F2918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08" y="3861264"/>
                <a:ext cx="2310990" cy="479157"/>
              </a:xfrm>
              <a:prstGeom prst="rect">
                <a:avLst/>
              </a:prstGeom>
              <a:blipFill>
                <a:blip r:embed="rId4"/>
                <a:stretch>
                  <a:fillRect b="-18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7497E5CF-DFAB-FB62-557B-695C9E5D396B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F0763196-C58E-2DEB-8B70-FF424E4D38DE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6EBEB74-1CD3-49EB-8D10-40E2CDB4F7AE}"/>
                  </a:ext>
                </a:extLst>
              </p:cNvPr>
              <p:cNvSpPr txBox="1"/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6EBEB74-1CD3-49EB-8D10-40E2CDB4F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75DBE8B8-FF75-261B-A16E-8C3708F77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85AC701A-8F53-A8C9-50CE-4C717407D52C}"/>
              </a:ext>
            </a:extLst>
          </p:cNvPr>
          <p:cNvSpPr txBox="1">
            <a:spLocks/>
          </p:cNvSpPr>
          <p:nvPr/>
        </p:nvSpPr>
        <p:spPr>
          <a:xfrm>
            <a:off x="456668" y="2016783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2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Realizamos la parametrización de las funciones respecto al tiempo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32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6D9EF5C6-E42B-7B47-2E07-0A37FB30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D99C2A68-BE11-EB69-505B-D5BD53C6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519BF4F8-EF67-7BAA-7215-BAEB2541C704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3ECEF021-9176-20E2-CBC3-063B146B0A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866" y="3828892"/>
                <a:ext cx="2413454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3ECEF021-9176-20E2-CBC3-063B146B0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66" y="3828892"/>
                <a:ext cx="2413454" cy="479157"/>
              </a:xfrm>
              <a:prstGeom prst="rect">
                <a:avLst/>
              </a:prstGeom>
              <a:blipFill>
                <a:blip r:embed="rId4"/>
                <a:stretch>
                  <a:fillRect b="-18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ACEBEA2-7C2B-744E-D51C-C12476416B65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131A1FF8-EDA9-E43A-9358-B5DCF25DE20F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8382F57-8516-1C1C-1CC1-9EFA8E14966C}"/>
                  </a:ext>
                </a:extLst>
              </p:cNvPr>
              <p:cNvSpPr txBox="1"/>
              <p:nvPr/>
            </p:nvSpPr>
            <p:spPr>
              <a:xfrm>
                <a:off x="-334058" y="3485712"/>
                <a:ext cx="38771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8382F57-8516-1C1C-1CC1-9EFA8E149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4058" y="3485712"/>
                <a:ext cx="38771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AA030409-E0C1-87B1-64AD-FB2ED48903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4101FE56-42D0-A9E1-1C5A-4E05D2625B24}"/>
              </a:ext>
            </a:extLst>
          </p:cNvPr>
          <p:cNvSpPr txBox="1">
            <a:spLocks/>
          </p:cNvSpPr>
          <p:nvPr/>
        </p:nvSpPr>
        <p:spPr>
          <a:xfrm>
            <a:off x="456668" y="1989331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3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Calculamos las derivadas de las funciones para obtener las velocidades en cada eje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798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7BBF2D18-1C7A-B016-2460-F4884BD2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9F3F52C0-BF0B-6254-5182-B1F33D642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38229614-2BCC-C61E-DF25-12EACD414F32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75337BD5-E4D5-A943-CD74-BB102F6FA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788" y="3756165"/>
                <a:ext cx="2883128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p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75337BD5-E4D5-A943-CD74-BB102F6F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88" y="3756165"/>
                <a:ext cx="2883128" cy="479157"/>
              </a:xfrm>
              <a:prstGeom prst="rect">
                <a:avLst/>
              </a:prstGeom>
              <a:blipFill>
                <a:blip r:embed="rId4"/>
                <a:stretch>
                  <a:fillRect b="-12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3B4596B6-359A-E243-E88A-8DAE93DF7ED9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7F239460-8895-2612-F27D-310BE13D4135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F8C49C-4A5D-34DB-970B-186AF95F7217}"/>
                  </a:ext>
                </a:extLst>
              </p:cNvPr>
              <p:cNvSpPr txBox="1"/>
              <p:nvPr/>
            </p:nvSpPr>
            <p:spPr>
              <a:xfrm>
                <a:off x="21602" y="3138130"/>
                <a:ext cx="3877149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MX" sz="1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s-MX" sz="18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18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MX" sz="1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s-MX" sz="18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F8C49C-4A5D-34DB-970B-186AF95F7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2" y="3138130"/>
                <a:ext cx="3877149" cy="429220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397F3377-175E-2E8A-B1C4-2283E91D5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B2A6567D-E511-389E-66E1-8D92DDDF7A27}"/>
              </a:ext>
            </a:extLst>
          </p:cNvPr>
          <p:cNvSpPr txBox="1">
            <a:spLocks/>
          </p:cNvSpPr>
          <p:nvPr/>
        </p:nvSpPr>
        <p:spPr>
          <a:xfrm>
            <a:off x="456668" y="1989331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4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lineal </a:t>
            </a:r>
            <a:r>
              <a:rPr lang="es-MX" sz="1800" b="1" dirty="0">
                <a:solidFill>
                  <a:schemeClr val="tx2"/>
                </a:solidFill>
              </a:rPr>
              <a:t>u(t)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151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B1E1B12F-17F7-8FBE-7132-FE89D809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7775A0AD-0B17-E2DD-3456-97F07934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D71301B8-3B54-6E8D-EBAC-8D92E2E0211F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FF6D769-F2EC-A033-6A7D-B9F98A234032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2EC9076C-F935-CE08-67B9-35A023ADC73E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E1CD453-0DE6-661C-7AB5-0D44FE3786FA}"/>
                  </a:ext>
                </a:extLst>
              </p:cNvPr>
              <p:cNvSpPr txBox="1"/>
              <p:nvPr/>
            </p:nvSpPr>
            <p:spPr>
              <a:xfrm>
                <a:off x="879163" y="3197824"/>
                <a:ext cx="2450191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θ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𝒂𝒏</m:t>
                        </m:r>
                      </m:e>
                      <m:sup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̇"/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̇"/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E1CD453-0DE6-661C-7AB5-0D44FE378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63" y="3197824"/>
                <a:ext cx="2450191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E5D58244-3C3B-FD1E-66CA-47901CC06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3BA8C971-4C02-D419-6036-F885684A8CF6}"/>
              </a:ext>
            </a:extLst>
          </p:cNvPr>
          <p:cNvSpPr txBox="1">
            <a:spLocks/>
          </p:cNvSpPr>
          <p:nvPr/>
        </p:nvSpPr>
        <p:spPr>
          <a:xfrm>
            <a:off x="456668" y="1989331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5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Calculamos la expresión del ángulo de orientación </a:t>
            </a:r>
            <a:r>
              <a:rPr lang="es-MX" sz="1800" b="1" dirty="0">
                <a:solidFill>
                  <a:schemeClr val="tx2"/>
                </a:solidFill>
              </a:rPr>
              <a:t>θ(t)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373353B-66B3-C467-702C-C566DA80A0CB}"/>
                  </a:ext>
                </a:extLst>
              </p:cNvPr>
              <p:cNvSpPr txBox="1"/>
              <p:nvPr/>
            </p:nvSpPr>
            <p:spPr>
              <a:xfrm>
                <a:off x="879163" y="3922974"/>
                <a:ext cx="2450191" cy="540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θ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𝒂𝒏</m:t>
                        </m:r>
                      </m:e>
                      <m:sup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373353B-66B3-C467-702C-C566DA80A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63" y="3922974"/>
                <a:ext cx="2450191" cy="540725"/>
              </a:xfrm>
              <a:prstGeom prst="rect">
                <a:avLst/>
              </a:prstGeom>
              <a:blipFill>
                <a:blip r:embed="rId6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23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72C09BD3-82C5-79A2-4F1B-68E54DB6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D1021797-6B52-F04D-90F4-5E0D5C424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03029225-AEB7-20EE-9F16-AA0F1044F751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467052C4-6560-2523-9F43-8220F1C4E414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736CEDD-3906-606D-9BDE-D99A027F0C12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D905E54-5648-FD67-6980-4BB56A58D63D}"/>
                  </a:ext>
                </a:extLst>
              </p:cNvPr>
              <p:cNvSpPr txBox="1"/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m:rPr>
                                <m:sty m:val="p"/>
                              </m:rPr>
                              <a:rPr lang="el-GR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D905E54-5648-FD67-6980-4BB56A58D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9F747542-E7F6-1425-E3CF-6D2726A51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685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06E08051-066D-12B4-D88A-162795D84A4C}"/>
              </a:ext>
            </a:extLst>
          </p:cNvPr>
          <p:cNvSpPr txBox="1">
            <a:spLocks/>
          </p:cNvSpPr>
          <p:nvPr/>
        </p:nvSpPr>
        <p:spPr>
          <a:xfrm>
            <a:off x="456667" y="1568240"/>
            <a:ext cx="4302899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6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angular </a:t>
            </a:r>
            <a:r>
              <a:rPr lang="es-MX" sz="1800" b="1" dirty="0">
                <a:solidFill>
                  <a:schemeClr val="tx2"/>
                </a:solidFill>
              </a:rPr>
              <a:t>ω(t)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EE1A303-A322-5392-EFA8-4FD81F6A6BE7}"/>
                  </a:ext>
                </a:extLst>
              </p:cNvPr>
              <p:cNvSpPr txBox="1"/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d>
                          <m:d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sSup>
                                      <m:sSupPr>
                                        <m:ctrlP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p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num>
                      <m:den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EE1A303-A322-5392-EFA8-4FD81F6A6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DD07AEA8-59BB-6BFD-D4D9-33C18D6EA806}"/>
              </a:ext>
            </a:extLst>
          </p:cNvPr>
          <p:cNvSpPr txBox="1">
            <a:spLocks/>
          </p:cNvSpPr>
          <p:nvPr/>
        </p:nvSpPr>
        <p:spPr>
          <a:xfrm>
            <a:off x="463559" y="3117534"/>
            <a:ext cx="2282810" cy="56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Regla: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A353FB-7997-89DA-BC53-0349FDC7F99E}"/>
                  </a:ext>
                </a:extLst>
              </p:cNvPr>
              <p:cNvSpPr txBox="1"/>
              <p:nvPr/>
            </p:nvSpPr>
            <p:spPr>
              <a:xfrm>
                <a:off x="1227964" y="3980720"/>
                <a:ext cx="3036809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𝒕𝒂𝒏</m:t>
                            </m:r>
                          </m:e>
                          <m:sup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s-MX" sz="1800" b="1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num>
                          <m:den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lang="es-MX" sz="1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A353FB-7997-89DA-BC53-0349FDC7F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64" y="3980720"/>
                <a:ext cx="3036809" cy="506870"/>
              </a:xfrm>
              <a:prstGeom prst="rect">
                <a:avLst/>
              </a:prstGeom>
              <a:blipFill>
                <a:blip r:embed="rId7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14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E1D9ADD4-FF7D-4A98-AF00-B6EF74A8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E96710EC-C9C4-5CA9-B830-283113F49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78A19002-576F-0F1B-D64B-9F6ACAB48C02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4C7BACF-E140-1F9C-FD9A-F54B5A91954F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9FC4DE18-C411-525B-61C9-967551F674B6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858AA2A-1BB9-8E83-6ABF-CF9CE9CF9291}"/>
                  </a:ext>
                </a:extLst>
              </p:cNvPr>
              <p:cNvSpPr txBox="1"/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m:rPr>
                                <m:sty m:val="p"/>
                              </m:rPr>
                              <a:rPr lang="el-GR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858AA2A-1BB9-8E83-6ABF-CF9CE9CF9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D27A36A7-444B-DE1B-328C-BBAAA0657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685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48FC00DB-E5B0-97C8-F2A8-83016ADC2BE0}"/>
              </a:ext>
            </a:extLst>
          </p:cNvPr>
          <p:cNvSpPr txBox="1">
            <a:spLocks/>
          </p:cNvSpPr>
          <p:nvPr/>
        </p:nvSpPr>
        <p:spPr>
          <a:xfrm>
            <a:off x="456667" y="1568240"/>
            <a:ext cx="4431851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6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angular </a:t>
            </a:r>
            <a:r>
              <a:rPr lang="es-MX" sz="1800" b="1" dirty="0">
                <a:solidFill>
                  <a:schemeClr val="tx2"/>
                </a:solidFill>
              </a:rPr>
              <a:t>ω(t)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369C99-485C-F3D1-99A1-FA48DA5D626B}"/>
                  </a:ext>
                </a:extLst>
              </p:cNvPr>
              <p:cNvSpPr txBox="1"/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d>
                          <m:d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sSup>
                                      <m:sSupPr>
                                        <m:ctrlP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p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num>
                      <m:den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369C99-485C-F3D1-99A1-FA48DA5D6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DC902D58-2E46-D3D0-F454-4765FE9AC5E0}"/>
              </a:ext>
            </a:extLst>
          </p:cNvPr>
          <p:cNvSpPr txBox="1">
            <a:spLocks/>
          </p:cNvSpPr>
          <p:nvPr/>
        </p:nvSpPr>
        <p:spPr>
          <a:xfrm>
            <a:off x="463558" y="3278352"/>
            <a:ext cx="3535757" cy="40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Aplicando la regla obtenemos 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28DC2C4-63C2-B14B-EDB9-6698CAA07B36}"/>
                  </a:ext>
                </a:extLst>
              </p:cNvPr>
              <p:cNvSpPr txBox="1"/>
              <p:nvPr/>
            </p:nvSpPr>
            <p:spPr>
              <a:xfrm>
                <a:off x="1654502" y="3980719"/>
                <a:ext cx="3036809" cy="882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p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  <a:p>
                <a:endParaRPr lang="es-MX" sz="1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28DC2C4-63C2-B14B-EDB9-6698CAA07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502" y="3980719"/>
                <a:ext cx="3036809" cy="882165"/>
              </a:xfrm>
              <a:prstGeom prst="rect">
                <a:avLst/>
              </a:prstGeom>
              <a:blipFill>
                <a:blip r:embed="rId7"/>
                <a:stretch>
                  <a:fillRect l="-160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01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B68A2CC1-3F31-D90A-7764-4C5AFCFC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E71E9C1F-24F5-C522-C260-192AD5A5A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1572F47F-E50E-BC0B-1E48-E218C548545B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1DB58EBD-F747-6954-EF94-EC632631C2C8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B78C002C-9177-EBDE-44C0-9557A627198B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D1A8CA4-C2DA-DAC7-AF07-6E8109FCD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685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DC9C9EB9-93A3-6622-368E-B1EDFF0607DA}"/>
              </a:ext>
            </a:extLst>
          </p:cNvPr>
          <p:cNvSpPr txBox="1">
            <a:spLocks/>
          </p:cNvSpPr>
          <p:nvPr/>
        </p:nvSpPr>
        <p:spPr>
          <a:xfrm>
            <a:off x="456668" y="1568240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7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Finalmente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lineal </a:t>
            </a:r>
            <a:r>
              <a:rPr lang="es-MX" sz="1800" b="1" dirty="0">
                <a:solidFill>
                  <a:schemeClr val="tx2"/>
                </a:solidFill>
              </a:rPr>
              <a:t>u(t)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y la velocidad angular </a:t>
            </a:r>
            <a:r>
              <a:rPr lang="es-MX" sz="1800" b="1" dirty="0">
                <a:solidFill>
                  <a:schemeClr val="tx2"/>
                </a:solidFill>
              </a:rPr>
              <a:t>ω(t)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45A1B078-F453-CD5F-2CA2-1ED86096389A}"/>
              </a:ext>
            </a:extLst>
          </p:cNvPr>
          <p:cNvSpPr txBox="1">
            <a:spLocks/>
          </p:cNvSpPr>
          <p:nvPr/>
        </p:nvSpPr>
        <p:spPr>
          <a:xfrm>
            <a:off x="530728" y="3516650"/>
            <a:ext cx="3535757" cy="40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Velocidad angular 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54A3585-306C-C5D0-8747-086EA15936DE}"/>
                  </a:ext>
                </a:extLst>
              </p:cNvPr>
              <p:cNvSpPr txBox="1"/>
              <p:nvPr/>
            </p:nvSpPr>
            <p:spPr>
              <a:xfrm>
                <a:off x="1371642" y="4150977"/>
                <a:ext cx="2157578" cy="882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p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  <a:p>
                <a:endParaRPr lang="es-MX" sz="1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54A3585-306C-C5D0-8747-086EA1593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42" y="4150977"/>
                <a:ext cx="2157578" cy="882165"/>
              </a:xfrm>
              <a:prstGeom prst="rect">
                <a:avLst/>
              </a:prstGeom>
              <a:blipFill>
                <a:blip r:embed="rId5"/>
                <a:stretch>
                  <a:fillRect l="-226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762;p45">
            <a:extLst>
              <a:ext uri="{FF2B5EF4-FFF2-40B4-BE49-F238E27FC236}">
                <a16:creationId xmlns:a16="http://schemas.microsoft.com/office/drawing/2014/main" id="{A47DA374-6A60-9F8A-1ACC-062F9DE1D6DD}"/>
              </a:ext>
            </a:extLst>
          </p:cNvPr>
          <p:cNvSpPr txBox="1">
            <a:spLocks/>
          </p:cNvSpPr>
          <p:nvPr/>
        </p:nvSpPr>
        <p:spPr>
          <a:xfrm>
            <a:off x="463559" y="2643975"/>
            <a:ext cx="3535757" cy="40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Velocidad lineal 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4D2619C1-A13B-674D-983C-B380F1148C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5504" y="3042429"/>
                <a:ext cx="2883128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p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4D2619C1-A13B-674D-983C-B380F1148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504" y="3042429"/>
                <a:ext cx="2883128" cy="479157"/>
              </a:xfrm>
              <a:prstGeom prst="rect">
                <a:avLst/>
              </a:prstGeom>
              <a:blipFill>
                <a:blip r:embed="rId6"/>
                <a:stretch>
                  <a:fillRect b="-12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99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407385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-Localización basada en Movimiento</a:t>
            </a:r>
          </a:p>
          <a:p>
            <a:pPr marL="146050" lvl="0" indent="0">
              <a:buSzPts val="1300"/>
            </a:pPr>
            <a:r>
              <a:rPr lang="es-ES" dirty="0"/>
              <a:t> -Parametrización en seguimiento de trayectoria</a:t>
            </a:r>
          </a:p>
          <a:p>
            <a:pPr marL="146050" lvl="0" indent="0">
              <a:buSzPts val="1300"/>
            </a:pPr>
            <a:r>
              <a:rPr lang="es-ES" dirty="0"/>
              <a:t> -Funciones a Trozos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184676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409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98180235-8FC5-5D08-3D5B-953B7C54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810EA044-31A9-9845-80E2-04E2C488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3B731249-FAF2-A559-8ADB-63E62207E515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E7A7EA69-D355-F7E9-3799-E513B5E7DA1C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4CB73EB2-A174-4EB9-B874-26D04D0572D4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(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funciones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a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trozos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</a:p>
        </p:txBody>
      </p:sp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CDE7001A-A01D-0ECF-C34A-59D0051A1093}"/>
              </a:ext>
            </a:extLst>
          </p:cNvPr>
          <p:cNvSpPr txBox="1">
            <a:spLocks/>
          </p:cNvSpPr>
          <p:nvPr/>
        </p:nvSpPr>
        <p:spPr>
          <a:xfrm>
            <a:off x="283779" y="2776307"/>
            <a:ext cx="3022128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Funciones a trozos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Una función a trozos (o </a:t>
            </a:r>
            <a:r>
              <a:rPr lang="es-MX" sz="1800" dirty="0" err="1">
                <a:solidFill>
                  <a:schemeClr val="accent4"/>
                </a:solidFill>
              </a:rPr>
              <a:t>piecewise</a:t>
            </a:r>
            <a:r>
              <a:rPr lang="es-MX" sz="1800" dirty="0">
                <a:solidFill>
                  <a:schemeClr val="accent4"/>
                </a:solidFill>
              </a:rPr>
              <a:t> </a:t>
            </a:r>
            <a:r>
              <a:rPr lang="es-MX" sz="1800" dirty="0" err="1">
                <a:solidFill>
                  <a:schemeClr val="accent4"/>
                </a:solidFill>
              </a:rPr>
              <a:t>function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) es simplemente una función que cambia de fórmula dependiendo del valor de la variable.</a:t>
            </a:r>
          </a:p>
          <a:p>
            <a:pPr marL="152400" indent="0" algn="just">
              <a:buNone/>
            </a:pPr>
            <a:endParaRPr lang="en-US" sz="1800" b="1" dirty="0">
              <a:solidFill>
                <a:schemeClr val="tx2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48B6D5D-CD1F-B500-1957-A774F10BD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973" y="2165554"/>
            <a:ext cx="4975922" cy="1110904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E865B8-444F-12AA-E791-EC1F6411E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5811" y="3531125"/>
            <a:ext cx="4056245" cy="130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88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C5996ABB-D83E-6D20-1B8F-BF1F8FF0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9CAE4565-3794-4213-C9E9-CEDF22147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BA4E5A45-A101-56FE-1EC7-3FF15E968302}"/>
              </a:ext>
            </a:extLst>
          </p:cNvPr>
          <p:cNvCxnSpPr>
            <a:cxnSpLocks/>
          </p:cNvCxnSpPr>
          <p:nvPr/>
        </p:nvCxnSpPr>
        <p:spPr>
          <a:xfrm>
            <a:off x="480114" y="264949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FED5830E-66A8-7B03-DD1E-B00FA1E29E13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35738232-4AA3-50AB-682F-E15D1AA9CFB6}"/>
              </a:ext>
            </a:extLst>
          </p:cNvPr>
          <p:cNvSpPr txBox="1">
            <a:spLocks/>
          </p:cNvSpPr>
          <p:nvPr/>
        </p:nvSpPr>
        <p:spPr>
          <a:xfrm>
            <a:off x="603806" y="174732"/>
            <a:ext cx="50142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(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funciones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 a 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trozos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58CF559-7031-1052-AA96-C8117E20A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77" y="2352093"/>
            <a:ext cx="4012323" cy="12901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13D5824-F419-FED8-D3C3-E345CFB89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321" y="947547"/>
            <a:ext cx="3352789" cy="409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3.3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3"/>
            <a:ext cx="8763167" cy="130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Utilizar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3.2 (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requerido para generar las siguientes trayectorias a partir de las velocidades angulares y lineales en un plano 2D.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564A0C6C-3832-51FF-5CC3-7256DD86FE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2958" y="3242264"/>
                <a:ext cx="3535757" cy="404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ctr">
                  <a:buNone/>
                </a:pPr>
                <a:r>
                  <a:rPr lang="en-US" sz="2000" b="1" dirty="0">
                    <a:solidFill>
                      <a:schemeClr val="accent4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1: </a:t>
                </a:r>
              </a:p>
              <a:p>
                <a:pPr marL="152400" indent="0" algn="ctr">
                  <a:buNone/>
                </a:pPr>
                <a:r>
                  <a:rPr lang="en-US" sz="20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Exponencial</a:t>
                </a:r>
                <a:endParaRPr lang="en-US" sz="20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n-U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Fira Sans Condensed Light" panose="020B0604020202020204" charset="0"/>
                        <a:cs typeface="Times New Roman" panose="02020603050405020304" pitchFamily="18" charset="0"/>
                      </a:rPr>
                      <m:t>= [0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Fira Sans Condensed Light" panose="020B0604020202020204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Fira Sans Condensed Light" panose="020B0604020202020204" charset="0"/>
                        <a:cs typeface="Times New Roman" panose="02020603050405020304" pitchFamily="18" charset="0"/>
                      </a:rPr>
                      <m:t> 8]</m:t>
                    </m:r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s-E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s-MX" sz="1800" b="1" i="0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800" b="1" i="0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s-ES" sz="1800" b="1" i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p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s-ES" sz="1800" b="1" i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s-MX" sz="1800" b="1" i="1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𝒕</m:t>
                        </m:r>
                      </m:sup>
                    </m:sSup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564A0C6C-3832-51FF-5CC3-7256DD86F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958" y="3242264"/>
                <a:ext cx="3535757" cy="404169"/>
              </a:xfrm>
              <a:prstGeom prst="rect">
                <a:avLst/>
              </a:prstGeom>
              <a:blipFill>
                <a:blip r:embed="rId4"/>
                <a:stretch>
                  <a:fillRect t="-107576" b="-1393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1762;p45">
                <a:extLst>
                  <a:ext uri="{FF2B5EF4-FFF2-40B4-BE49-F238E27FC236}">
                    <a16:creationId xmlns:a16="http://schemas.microsoft.com/office/drawing/2014/main" id="{52708260-E563-8742-24F0-33EA45E775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97295" y="3231097"/>
                <a:ext cx="3535757" cy="404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ctr">
                  <a:buNone/>
                </a:pPr>
                <a:r>
                  <a:rPr lang="en-US" sz="2000" b="1" dirty="0">
                    <a:solidFill>
                      <a:schemeClr val="accent4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2: </a:t>
                </a:r>
              </a:p>
              <a:p>
                <a:pPr marL="152400" indent="0" algn="ctr">
                  <a:buNone/>
                </a:pPr>
                <a:r>
                  <a:rPr lang="en-US" sz="20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Cosenoidal</a:t>
                </a:r>
                <a:endParaRPr lang="en-US" sz="20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= [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s-E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s-MX" sz="1800" b="1" i="0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800" b="1" i="0" dirty="0" smtClean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s-MX" sz="1800" b="1" i="0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𝒄𝒐𝒔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𝟖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Google Shape;1762;p45">
                <a:extLst>
                  <a:ext uri="{FF2B5EF4-FFF2-40B4-BE49-F238E27FC236}">
                    <a16:creationId xmlns:a16="http://schemas.microsoft.com/office/drawing/2014/main" id="{52708260-E563-8742-24F0-33EA45E77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295" y="3231097"/>
                <a:ext cx="3535757" cy="404169"/>
              </a:xfrm>
              <a:prstGeom prst="rect">
                <a:avLst/>
              </a:prstGeom>
              <a:blipFill>
                <a:blip r:embed="rId5"/>
                <a:stretch>
                  <a:fillRect t="-106061" b="-15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762;p45">
                <a:extLst>
                  <a:ext uri="{FF2B5EF4-FFF2-40B4-BE49-F238E27FC236}">
                    <a16:creationId xmlns:a16="http://schemas.microsoft.com/office/drawing/2014/main" id="{CB6D0F85-1895-F34F-6BF1-6EF67DD12C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6141" y="3207648"/>
                <a:ext cx="3535757" cy="4041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ctr">
                  <a:buNone/>
                </a:pPr>
                <a:r>
                  <a:rPr lang="en-US" sz="2000" b="1" dirty="0">
                    <a:solidFill>
                      <a:schemeClr val="accent4"/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Trayectoria 3: </a:t>
                </a:r>
              </a:p>
              <a:p>
                <a:pPr marL="152400" indent="0" algn="ctr">
                  <a:buNone/>
                </a:pPr>
                <a:r>
                  <a:rPr lang="en-US" sz="2000" b="1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Logarítmica</a:t>
                </a:r>
                <a:endParaRPr lang="en-US" sz="20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MX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= [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800" b="1" i="0" dirty="0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Fira Sans Condensed Light" panose="020B060402020202020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  <a:latin typeface="Fira Sans Condensed Light" panose="020B0604020202020204" charset="0"/>
                  <a:cs typeface="Times New Roman" panose="02020603050405020304" pitchFamily="18" charset="0"/>
                </a:endParaRPr>
              </a:p>
              <a:p>
                <a:pPr marL="152400" indent="0" algn="ctr">
                  <a:buNone/>
                </a:pPr>
                <a:r>
                  <a:rPr lang="es-ES" sz="1800" b="1" dirty="0">
                    <a:solidFill>
                      <a:schemeClr val="bg1">
                        <a:lumMod val="60000"/>
                        <a:lumOff val="40000"/>
                      </a:schemeClr>
                    </a:solidFill>
                    <a:latin typeface="Fira Sans Condensed Light" panose="020B060402020202020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𝐟</m:t>
                    </m:r>
                    <m:d>
                      <m:dPr>
                        <m:ctrlPr>
                          <a:rPr lang="es-MX" sz="1800" b="1" i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sz="1800" b="1" dirty="0">
                            <a:solidFill>
                              <a:schemeClr val="bg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</m:d>
                    <m:r>
                      <a:rPr lang="es-MX" sz="1800" b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𝒍𝒏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MX" sz="1800" b="1" i="1" dirty="0" smtClean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𝟏𝟕</m:t>
                    </m:r>
                    <m:r>
                      <a:rPr lang="es-MX" sz="1800" b="1" i="1" dirty="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b="1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Google Shape;1762;p45">
                <a:extLst>
                  <a:ext uri="{FF2B5EF4-FFF2-40B4-BE49-F238E27FC236}">
                    <a16:creationId xmlns:a16="http://schemas.microsoft.com/office/drawing/2014/main" id="{CB6D0F85-1895-F34F-6BF1-6EF67DD12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141" y="3207648"/>
                <a:ext cx="3535757" cy="404169"/>
              </a:xfrm>
              <a:prstGeom prst="rect">
                <a:avLst/>
              </a:prstGeom>
              <a:blipFill>
                <a:blip r:embed="rId6"/>
                <a:stretch>
                  <a:fillRect t="-106061" b="-15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7572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3.3 (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Trayectorias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por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Tramos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graficos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trayectorias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parametrizadas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3580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11961</TotalTime>
  <Words>793</Words>
  <Application>Microsoft Office PowerPoint</Application>
  <PresentationFormat>Presentación en pantalla (16:9)</PresentationFormat>
  <Paragraphs>172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Rajdhani</vt:lpstr>
      <vt:lpstr>Anton</vt:lpstr>
      <vt:lpstr>Fira Sans Condensed Light</vt:lpstr>
      <vt:lpstr>Cambria Math</vt:lpstr>
      <vt:lpstr>Advent Pro Light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318</cp:revision>
  <dcterms:modified xsi:type="dcterms:W3CDTF">2026-04-17T04:18:44Z</dcterms:modified>
</cp:coreProperties>
</file>