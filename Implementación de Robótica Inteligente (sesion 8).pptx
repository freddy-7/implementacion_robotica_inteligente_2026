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6"/>
  </p:notesMasterIdLst>
  <p:sldIdLst>
    <p:sldId id="256" r:id="rId2"/>
    <p:sldId id="357" r:id="rId3"/>
    <p:sldId id="358" r:id="rId4"/>
    <p:sldId id="440" r:id="rId5"/>
    <p:sldId id="502" r:id="rId6"/>
    <p:sldId id="503" r:id="rId7"/>
    <p:sldId id="490" r:id="rId8"/>
    <p:sldId id="492" r:id="rId9"/>
    <p:sldId id="504" r:id="rId10"/>
    <p:sldId id="505" r:id="rId11"/>
    <p:sldId id="491" r:id="rId12"/>
    <p:sldId id="501" r:id="rId13"/>
    <p:sldId id="506" r:id="rId14"/>
    <p:sldId id="280" r:id="rId15"/>
  </p:sldIdLst>
  <p:sldSz cx="9144000" cy="5143500" type="screen16x9"/>
  <p:notesSz cx="6858000" cy="9144000"/>
  <p:embeddedFontLst>
    <p:embeddedFont>
      <p:font typeface="Advent Pro Light" panose="020B0604020202020204" charset="0"/>
      <p:regular r:id="rId17"/>
      <p:bold r:id="rId18"/>
    </p:embeddedFont>
    <p:embeddedFont>
      <p:font typeface="Anton" pitchFamily="2" charset="0"/>
      <p:regular r:id="rId19"/>
    </p:embeddedFont>
    <p:embeddedFont>
      <p:font typeface="Cambria Math" panose="02040503050406030204" pitchFamily="18" charset="0"/>
      <p:regular r:id="rId20"/>
    </p:embeddedFont>
    <p:embeddedFont>
      <p:font typeface="Fira Sans Condensed Light" panose="020B0403050000020004" pitchFamily="34" charset="0"/>
      <p:regular r:id="rId21"/>
      <p:bold r:id="rId22"/>
      <p:italic r:id="rId23"/>
      <p:boldItalic r:id="rId24"/>
    </p:embeddedFont>
    <p:embeddedFont>
      <p:font typeface="Rajdhani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5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5206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7F18985C-89F0-E030-7966-4A63FCDE1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C255EA1D-19C9-AE3A-8023-9AC1313477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A0CEA6BD-3516-8596-5790-B719638F02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768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284BB465-D161-28AC-B1BC-69E223528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D5149A65-CC72-A297-311B-4D51465C9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FE260F6D-528F-309F-F27F-3861F2BA5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303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210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25115AC-5204-4C78-D543-2D362297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FAF11F4A-6E87-7629-4405-7CD96698D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73BD64D3-A776-F405-D538-EC66F934A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1536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1335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9661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210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45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2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TE3002B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 de Robótica Inteligente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21 de Abril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>
            <a:cxnSpLocks/>
          </p:cNvCxnSpPr>
          <p:nvPr/>
        </p:nvCxnSpPr>
        <p:spPr>
          <a:xfrm>
            <a:off x="4594711" y="1828800"/>
            <a:ext cx="0" cy="18288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256213" y="1911729"/>
            <a:ext cx="352782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just"/>
            <a:r>
              <a:rPr lang="es-ES" dirty="0"/>
              <a:t>     </a:t>
            </a:r>
            <a:r>
              <a:rPr lang="es-ES" b="1" dirty="0"/>
              <a:t>“La robótica móvil puede definirse como sistemas robóticos que pueden desplazarse en distintos entornos y que cuenta con distintas capacidades que les permiten ejecutar tareas complejas, ya sea de forma autónoma o controlados por un operador humano..”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Cinco tendencias esenciales que impulsan el crecimiento de la robótica móvil">
            <a:extLst>
              <a:ext uri="{FF2B5EF4-FFF2-40B4-BE49-F238E27FC236}">
                <a16:creationId xmlns:a16="http://schemas.microsoft.com/office/drawing/2014/main" id="{DFE48314-CCC1-71E9-5268-FDB10F877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06" y="1567133"/>
            <a:ext cx="3985292" cy="242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407385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-Localización basada en Movimiento</a:t>
            </a:r>
          </a:p>
          <a:p>
            <a:pPr marL="146050" lvl="0" indent="0">
              <a:buSzPts val="1300"/>
            </a:pPr>
            <a:r>
              <a:rPr lang="es-ES" dirty="0"/>
              <a:t> -Parametrización en seguimiento de trayectoria</a:t>
            </a:r>
          </a:p>
          <a:p>
            <a:pPr marL="146050" lvl="0" indent="0">
              <a:buSzPts val="1300"/>
            </a:pPr>
            <a:r>
              <a:rPr lang="es-ES" dirty="0"/>
              <a:t> -Funciones a Trozos</a:t>
            </a: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184676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40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98180235-8FC5-5D08-3D5B-953B7C54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810EA044-31A9-9845-80E2-04E2C488C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3B731249-FAF2-A559-8ADB-63E62207E515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E7A7EA69-D355-F7E9-3799-E513B5E7DA1C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4CB73EB2-A174-4EB9-B874-26D04D0572D4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Trayectorias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por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tramos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(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funciones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a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trozos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</a:p>
        </p:txBody>
      </p:sp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CDE7001A-A01D-0ECF-C34A-59D0051A1093}"/>
              </a:ext>
            </a:extLst>
          </p:cNvPr>
          <p:cNvSpPr txBox="1">
            <a:spLocks/>
          </p:cNvSpPr>
          <p:nvPr/>
        </p:nvSpPr>
        <p:spPr>
          <a:xfrm>
            <a:off x="283779" y="2776307"/>
            <a:ext cx="3022128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Funciones a trozos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Una función a trozos (o </a:t>
            </a:r>
            <a:r>
              <a:rPr lang="es-MX" sz="1800" dirty="0" err="1">
                <a:solidFill>
                  <a:schemeClr val="accent4"/>
                </a:solidFill>
              </a:rPr>
              <a:t>piecewise</a:t>
            </a:r>
            <a:r>
              <a:rPr lang="es-MX" sz="1800" dirty="0">
                <a:solidFill>
                  <a:schemeClr val="accent4"/>
                </a:solidFill>
              </a:rPr>
              <a:t> </a:t>
            </a:r>
            <a:r>
              <a:rPr lang="es-MX" sz="1800" dirty="0" err="1">
                <a:solidFill>
                  <a:schemeClr val="accent4"/>
                </a:solidFill>
              </a:rPr>
              <a:t>function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) es simplemente una función que cambia de fórmula dependiendo del valor de la variable.</a:t>
            </a:r>
          </a:p>
          <a:p>
            <a:pPr marL="152400" indent="0" algn="just">
              <a:buNone/>
            </a:pPr>
            <a:endParaRPr lang="en-US" sz="1800" b="1" dirty="0">
              <a:solidFill>
                <a:schemeClr val="tx2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48B6D5D-CD1F-B500-1957-A774F10BD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973" y="2165554"/>
            <a:ext cx="4975922" cy="1110904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7E865B8-444F-12AA-E791-EC1F6411E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811" y="3531125"/>
            <a:ext cx="4056245" cy="130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88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C5996ABB-D83E-6D20-1B8F-BF1F8FF0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9CAE4565-3794-4213-C9E9-CEDF22147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BA4E5A45-A101-56FE-1EC7-3FF15E968302}"/>
              </a:ext>
            </a:extLst>
          </p:cNvPr>
          <p:cNvCxnSpPr>
            <a:cxnSpLocks/>
          </p:cNvCxnSpPr>
          <p:nvPr/>
        </p:nvCxnSpPr>
        <p:spPr>
          <a:xfrm>
            <a:off x="480114" y="264949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FED5830E-66A8-7B03-DD1E-B00FA1E29E13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35738232-4AA3-50AB-682F-E15D1AA9CFB6}"/>
              </a:ext>
            </a:extLst>
          </p:cNvPr>
          <p:cNvSpPr txBox="1">
            <a:spLocks/>
          </p:cNvSpPr>
          <p:nvPr/>
        </p:nvSpPr>
        <p:spPr>
          <a:xfrm>
            <a:off x="603806" y="174732"/>
            <a:ext cx="501428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Trayectorias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por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tramos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(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funciones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a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trozos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58CF559-7031-1052-AA96-C8117E20A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77" y="2352093"/>
            <a:ext cx="4012323" cy="12901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13D5824-F419-FED8-D3C3-E345CFB89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321" y="947547"/>
            <a:ext cx="3352789" cy="409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6635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3.3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Trayectorias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por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Tramos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263593"/>
            <a:ext cx="8763167" cy="1308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Utilizar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nuevo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3.2 (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requerido para generar las siguientes trayectorias a partir de las velocidades angulares y lineales en un plano 2D.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762;p45">
                <a:extLst>
                  <a:ext uri="{FF2B5EF4-FFF2-40B4-BE49-F238E27FC236}">
                    <a16:creationId xmlns:a16="http://schemas.microsoft.com/office/drawing/2014/main" id="{564A0C6C-3832-51FF-5CC3-7256DD86FE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2958" y="3242264"/>
                <a:ext cx="3535757" cy="404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ctr">
                  <a:buNone/>
                </a:pPr>
                <a:r>
                  <a:rPr lang="en-US" sz="2000" b="1" dirty="0">
                    <a:solidFill>
                      <a:schemeClr val="accent4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Trayectoria 1: </a:t>
                </a:r>
              </a:p>
              <a:p>
                <a:pPr marL="152400" indent="0" algn="ctr">
                  <a:buNone/>
                </a:pPr>
                <a:r>
                  <a:rPr lang="en-US" sz="2000" b="1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Exponencial</a:t>
                </a:r>
                <a:endParaRPr lang="en-US" sz="20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:r>
                  <a:rPr lang="en-US" sz="18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Fira Sans Condensed Light" panose="020B0604020202020204" charset="0"/>
                        <a:cs typeface="Times New Roman" panose="02020603050405020304" pitchFamily="18" charset="0"/>
                      </a:rPr>
                      <m:t>= [0 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Fira Sans Condensed Light" panose="020B0604020202020204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Fira Sans Condensed Light" panose="020B0604020202020204" charset="0"/>
                        <a:cs typeface="Times New Roman" panose="02020603050405020304" pitchFamily="18" charset="0"/>
                      </a:rPr>
                      <m:t> 8]</m:t>
                    </m:r>
                  </m:oMath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:r>
                  <a:rPr lang="es-ES" sz="18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𝐟</m:t>
                    </m:r>
                    <m:d>
                      <m:dPr>
                        <m:ctrlP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800" b="1" i="0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d>
                    <m: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ES" sz="1800" b="1" i="1" dirty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s-ES" sz="1800" b="1" i="1" dirty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p>
                    </m:sSup>
                  </m:oMath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Google Shape;1762;p45">
                <a:extLst>
                  <a:ext uri="{FF2B5EF4-FFF2-40B4-BE49-F238E27FC236}">
                    <a16:creationId xmlns:a16="http://schemas.microsoft.com/office/drawing/2014/main" id="{564A0C6C-3832-51FF-5CC3-7256DD86F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2958" y="3242264"/>
                <a:ext cx="3535757" cy="404169"/>
              </a:xfrm>
              <a:prstGeom prst="rect">
                <a:avLst/>
              </a:prstGeom>
              <a:blipFill>
                <a:blip r:embed="rId4"/>
                <a:stretch>
                  <a:fillRect t="-107576" b="-1393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762;p45">
                <a:extLst>
                  <a:ext uri="{FF2B5EF4-FFF2-40B4-BE49-F238E27FC236}">
                    <a16:creationId xmlns:a16="http://schemas.microsoft.com/office/drawing/2014/main" id="{52708260-E563-8742-24F0-33EA45E775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97295" y="3231097"/>
                <a:ext cx="3535757" cy="404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ctr">
                  <a:buNone/>
                </a:pPr>
                <a:r>
                  <a:rPr lang="en-US" sz="2000" b="1" dirty="0">
                    <a:solidFill>
                      <a:schemeClr val="accent4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Trayectoria 2: </a:t>
                </a:r>
              </a:p>
              <a:p>
                <a:pPr marL="152400" indent="0" algn="ctr">
                  <a:buNone/>
                </a:pPr>
                <a:r>
                  <a:rPr lang="en-US" sz="2000" b="1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Cosenoidal</a:t>
                </a:r>
                <a:endParaRPr lang="en-US" sz="20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= [</m:t>
                      </m:r>
                      <m:r>
                        <m:rPr>
                          <m:nor/>
                        </m:rPr>
                        <a:rPr lang="es-MX" sz="1800" b="1" i="0" dirty="0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800" b="1" i="0" dirty="0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18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:r>
                  <a:rPr lang="es-ES" sz="18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𝐟</m:t>
                    </m:r>
                    <m:d>
                      <m:dPr>
                        <m:ctrlP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800" b="1" i="0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d>
                    <m: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𝒄𝒐𝒔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𝟖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Google Shape;1762;p45">
                <a:extLst>
                  <a:ext uri="{FF2B5EF4-FFF2-40B4-BE49-F238E27FC236}">
                    <a16:creationId xmlns:a16="http://schemas.microsoft.com/office/drawing/2014/main" id="{52708260-E563-8742-24F0-33EA45E77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295" y="3231097"/>
                <a:ext cx="3535757" cy="404169"/>
              </a:xfrm>
              <a:prstGeom prst="rect">
                <a:avLst/>
              </a:prstGeom>
              <a:blipFill>
                <a:blip r:embed="rId5"/>
                <a:stretch>
                  <a:fillRect t="-106061" b="-15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762;p45">
                <a:extLst>
                  <a:ext uri="{FF2B5EF4-FFF2-40B4-BE49-F238E27FC236}">
                    <a16:creationId xmlns:a16="http://schemas.microsoft.com/office/drawing/2014/main" id="{CB6D0F85-1895-F34F-6BF1-6EF67DD12C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16141" y="3207648"/>
                <a:ext cx="3535757" cy="404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ctr">
                  <a:buNone/>
                </a:pPr>
                <a:r>
                  <a:rPr lang="en-US" sz="2000" b="1" dirty="0">
                    <a:solidFill>
                      <a:schemeClr val="accent4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Trayectoria 3: </a:t>
                </a:r>
              </a:p>
              <a:p>
                <a:pPr marL="152400" indent="0" algn="ctr">
                  <a:buNone/>
                </a:pPr>
                <a:r>
                  <a:rPr lang="en-US" sz="2000" b="1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Logarítmica</a:t>
                </a:r>
                <a:endParaRPr lang="en-US" sz="20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= [</m:t>
                      </m:r>
                      <m:r>
                        <m:rPr>
                          <m:nor/>
                        </m:rPr>
                        <a:rPr lang="es-MX" sz="1800" b="1" i="0" dirty="0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18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800" b="1" i="0" dirty="0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30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:r>
                  <a:rPr lang="es-ES" sz="18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𝐟</m:t>
                    </m:r>
                    <m:d>
                      <m:dPr>
                        <m:ctrlPr>
                          <a:rPr lang="es-MX" sz="1800" b="1" i="1" dirty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800" b="1" dirty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d>
                    <m:r>
                      <a:rPr lang="es-MX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𝒍𝒏</m:t>
                    </m:r>
                    <m:r>
                      <a:rPr lang="es-MX" sz="1800" b="1" i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800" b="1" i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s-MX" sz="1800" b="1" i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𝟏𝟕</m:t>
                    </m:r>
                    <m:r>
                      <a:rPr lang="es-MX" sz="1800" b="1" i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Google Shape;1762;p45">
                <a:extLst>
                  <a:ext uri="{FF2B5EF4-FFF2-40B4-BE49-F238E27FC236}">
                    <a16:creationId xmlns:a16="http://schemas.microsoft.com/office/drawing/2014/main" id="{CB6D0F85-1895-F34F-6BF1-6EF67DD12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141" y="3207648"/>
                <a:ext cx="3535757" cy="404169"/>
              </a:xfrm>
              <a:prstGeom prst="rect">
                <a:avLst/>
              </a:prstGeom>
              <a:blipFill>
                <a:blip r:embed="rId6"/>
                <a:stretch>
                  <a:fillRect t="-106061" b="-15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7572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3.3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Trayectorias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por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Tramos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pasos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graficos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trayectorias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parametrizadas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MATLAB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3580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F91A6EE-30A5-C10A-FC31-35D7EC2B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59CD75F0-510F-0D07-065D-1C86E4E433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28508A87-8423-69F9-ED65-F4B9FAB05E7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407385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-Evaluación</a:t>
            </a: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7AD77774-F371-A5F1-6385-C33F50F43F9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184676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F2A15E95-DD18-5D49-2232-D924A17E471F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E2B47B1D-3F2D-A692-9C3D-A94C683C0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C8B8A00C-313D-C01D-A40A-2BFA7215A2E7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848911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6635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4.1 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Evaluación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03;p42"/>
              <p:cNvSpPr txBox="1"/>
              <p:nvPr/>
            </p:nvSpPr>
            <p:spPr>
              <a:xfrm>
                <a:off x="293077" y="1263592"/>
                <a:ext cx="8763167" cy="335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n-U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1. </a:t>
                </a:r>
                <a:r>
                  <a:rPr lang="en-U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Crear </a:t>
                </a:r>
                <a:r>
                  <a:rPr lang="en-US" sz="16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un nuevo </a:t>
                </a:r>
                <a:r>
                  <a:rPr lang="en-US" sz="1600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repositorio</a:t>
                </a:r>
                <a:r>
                  <a:rPr lang="en-US" sz="16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con el </a:t>
                </a:r>
                <a:r>
                  <a:rPr lang="en-US" sz="1600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nombre</a:t>
                </a:r>
                <a:r>
                  <a:rPr lang="en-US" sz="16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: </a:t>
                </a:r>
                <a:r>
                  <a:rPr lang="en-US" sz="1600" b="1" dirty="0" err="1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Actividad</a:t>
                </a:r>
                <a:r>
                  <a:rPr lang="en-U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4.1 (</a:t>
                </a:r>
                <a:r>
                  <a:rPr lang="en-US" sz="1600" b="1" dirty="0" err="1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Evaluación</a:t>
                </a:r>
                <a:r>
                  <a:rPr lang="en-U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</a:t>
                </a:r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2. </a:t>
                </a:r>
                <a:r>
                  <a:rPr lang="en-US" sz="1600" b="1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Implementar</a:t>
                </a:r>
                <a:r>
                  <a:rPr lang="en-U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el</a:t>
                </a:r>
                <a:r>
                  <a:rPr lang="en-US" sz="16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</a:t>
                </a:r>
                <a:r>
                  <a:rPr lang="es-ES" sz="16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código requerido para generar las siguientes trayectorias a partir de las velocidades angulares y lineales en un plano 2D.</a:t>
                </a:r>
                <a:endParaRPr lang="es-E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600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Trayectoria</a:t>
                </a:r>
                <a:r>
                  <a:rPr lang="en-US" sz="16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1: </a:t>
                </a:r>
              </a:p>
              <a:p>
                <a:pPr algn="just"/>
                <a:r>
                  <a:rPr lang="en-U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X= [0 a 5]</a:t>
                </a:r>
              </a:p>
              <a:p>
                <a:pPr algn="just"/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F(x) = 2*sen(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</a:t>
                </a:r>
                <a:endParaRPr lang="es-E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r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Google Shape;1603;p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77" y="1263592"/>
                <a:ext cx="8763167" cy="3350105"/>
              </a:xfrm>
              <a:prstGeom prst="rect">
                <a:avLst/>
              </a:prstGeom>
              <a:blipFill>
                <a:blip r:embed="rId4"/>
                <a:stretch>
                  <a:fillRect l="-348" r="-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CD3DD1-A7AE-408D-9642-CEF83A9BC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774" y="2293784"/>
            <a:ext cx="3124857" cy="2674362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924926C2-5FC3-B916-D4A4-17FD854EBE38}"/>
              </a:ext>
            </a:extLst>
          </p:cNvPr>
          <p:cNvSpPr/>
          <p:nvPr/>
        </p:nvSpPr>
        <p:spPr>
          <a:xfrm>
            <a:off x="4228774" y="3516923"/>
            <a:ext cx="214272" cy="2344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6635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4.1 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Evaluación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03;p42"/>
              <p:cNvSpPr txBox="1"/>
              <p:nvPr/>
            </p:nvSpPr>
            <p:spPr>
              <a:xfrm>
                <a:off x="293077" y="1263592"/>
                <a:ext cx="8763167" cy="335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n-US" sz="16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Trayectoria 2:</a:t>
                </a:r>
              </a:p>
              <a:p>
                <a:pPr algn="just"/>
                <a:r>
                  <a:rPr lang="en-U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X= [-4 a 4]</a:t>
                </a:r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F(x)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6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p>
                        <m:r>
                          <a:rPr lang="es-ES" sz="16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-16</a:t>
                </a: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r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Google Shape;1603;p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77" y="1263592"/>
                <a:ext cx="8763167" cy="3350105"/>
              </a:xfrm>
              <a:prstGeom prst="rect">
                <a:avLst/>
              </a:prstGeom>
              <a:blipFill>
                <a:blip r:embed="rId4"/>
                <a:stretch>
                  <a:fillRect l="-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D1FDBE-270B-B302-669A-FDA0B4A0F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769" y="1650494"/>
            <a:ext cx="3342461" cy="3097505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DDA55B0C-913B-DDFC-47B6-81F13DB5FAB2}"/>
              </a:ext>
            </a:extLst>
          </p:cNvPr>
          <p:cNvSpPr/>
          <p:nvPr/>
        </p:nvSpPr>
        <p:spPr>
          <a:xfrm>
            <a:off x="2900769" y="3082015"/>
            <a:ext cx="214272" cy="2344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930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6635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4.1 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Evaluación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Trayectoria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3:</a:t>
            </a: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X= [-6 a 6]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3E8F304F-BC1A-9EE0-1CC1-458002582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127" y="1384249"/>
            <a:ext cx="5824904" cy="338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431002FA-B167-2C32-C044-FB304C3BAED3}"/>
              </a:ext>
            </a:extLst>
          </p:cNvPr>
          <p:cNvSpPr/>
          <p:nvPr/>
        </p:nvSpPr>
        <p:spPr>
          <a:xfrm>
            <a:off x="2353081" y="4379235"/>
            <a:ext cx="214272" cy="2344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5468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7572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4.1 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Evaluación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pasos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graficos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trayectorias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parametrizadas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MATLAB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2474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11962</TotalTime>
  <Words>594</Words>
  <Application>Microsoft Office PowerPoint</Application>
  <PresentationFormat>Presentación en pantalla (16:9)</PresentationFormat>
  <Paragraphs>163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Fira Sans Condensed Light</vt:lpstr>
      <vt:lpstr>Anton</vt:lpstr>
      <vt:lpstr>Cambria Math</vt:lpstr>
      <vt:lpstr>Rajdhani</vt:lpstr>
      <vt:lpstr>Advent Pro Light</vt:lpstr>
      <vt:lpstr>Arial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Garcia Suarez</cp:lastModifiedBy>
  <cp:revision>319</cp:revision>
  <dcterms:modified xsi:type="dcterms:W3CDTF">2026-04-21T03:08:12Z</dcterms:modified>
</cp:coreProperties>
</file>